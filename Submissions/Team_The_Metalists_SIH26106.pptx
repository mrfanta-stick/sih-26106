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1pPr>
    <a:lvl2pPr indent="2286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2pPr>
    <a:lvl3pPr indent="4572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3pPr>
    <a:lvl4pPr indent="6858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4pPr>
    <a:lvl5pPr indent="9144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914400" y="2130426"/>
            <a:ext cx="10363200" cy="1470027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963084" y="4406903"/>
            <a:ext cx="10363201" cy="1362077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963084" y="2906713"/>
            <a:ext cx="103632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93367" y="1535111"/>
            <a:ext cx="5389036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609601" y="273050"/>
            <a:ext cx="401108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609601" y="1435103"/>
            <a:ext cx="401108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2389715" y="4800600"/>
            <a:ext cx="73152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2389715" y="612775"/>
            <a:ext cx="73152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2389715" y="5367337"/>
            <a:ext cx="73152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308747" y="6404296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en.wikipedia.org/wiki/SMTP_Authentication" TargetMode="External"/><Relationship Id="rId4" Type="http://schemas.openxmlformats.org/officeDocument/2006/relationships/hyperlink" Target="https://medium.com/@d.harish008/what-is-a-magic-byte-and-how-to-exploit-1e286da1c198" TargetMode="External"/><Relationship Id="rId5" Type="http://schemas.openxmlformats.org/officeDocument/2006/relationships/hyperlink" Target="https://sbert.net/" TargetMode="External"/><Relationship Id="rId6" Type="http://schemas.openxmlformats.org/officeDocument/2006/relationships/hyperlink" Target="https://en.wikipedia.org/wiki/Entropy_(information_theory)" TargetMode="External"/><Relationship Id="rId7" Type="http://schemas.openxmlformats.org/officeDocument/2006/relationships/hyperlink" Target="https://en.wikipedia.org/wiki/Levenshtein_distance" TargetMode="External"/><Relationship Id="rId8" Type="http://schemas.openxmlformats.org/officeDocument/2006/relationships/hyperlink" Target="https://spacy.io/models/en" TargetMode="External"/><Relationship Id="rId9" Type="http://schemas.openxmlformats.org/officeDocument/2006/relationships/image" Target="../media/image4.png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" name="Freeform: Shape 26"/>
          <p:cNvSpPr/>
          <p:nvPr/>
        </p:nvSpPr>
        <p:spPr>
          <a:xfrm>
            <a:off x="7526738" y="943622"/>
            <a:ext cx="4638605" cy="5154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fill="norm" stroke="1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0" t="0" r="59916" b="0"/>
          <a:stretch>
            <a:fillRect/>
          </a:stretch>
        </p:blipFill>
        <p:spPr>
          <a:xfrm>
            <a:off x="8662391" y="2233953"/>
            <a:ext cx="3203511" cy="34262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itle 7"/>
          <p:cNvSpPr txBox="1"/>
          <p:nvPr>
            <p:ph type="ctrTitle"/>
          </p:nvPr>
        </p:nvSpPr>
        <p:spPr>
          <a:xfrm>
            <a:off x="158594" y="-505557"/>
            <a:ext cx="10363202" cy="2076451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SMART INDIA HACKATHON 2026</a:t>
            </a:r>
          </a:p>
        </p:txBody>
      </p:sp>
      <p:sp>
        <p:nvSpPr>
          <p:cNvPr id="98" name="TextBox 9"/>
          <p:cNvSpPr txBox="1"/>
          <p:nvPr/>
        </p:nvSpPr>
        <p:spPr>
          <a:xfrm>
            <a:off x="215827" y="870453"/>
            <a:ext cx="8031462" cy="4932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Problem Statement ID –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26106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Problem Statement Title -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AI-powered Email Threat Detection, Geolocation and Forensic Intelligence Platform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Theme-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Blockchain &amp; Cybersecurity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PS Category - 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Team ID -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Team Name (Registered on portal) -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The Mentalists</a:t>
            </a:r>
          </a:p>
        </p:txBody>
      </p:sp>
      <p:pic>
        <p:nvPicPr>
          <p:cNvPr id="99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02" name="Rectangle 8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Title 1"/>
          <p:cNvSpPr txBox="1"/>
          <p:nvPr>
            <p:ph type="title"/>
          </p:nvPr>
        </p:nvSpPr>
        <p:spPr>
          <a:xfrm>
            <a:off x="309637" y="23024"/>
            <a:ext cx="10972802" cy="1143002"/>
          </a:xfrm>
          <a:prstGeom prst="rect">
            <a:avLst/>
          </a:prstGeom>
        </p:spPr>
        <p:txBody>
          <a:bodyPr/>
          <a:lstStyle/>
          <a:p>
            <a:pPr>
              <a:defRPr b="1"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IDEA :- Automated Email Forensics &amp; Threat Intelligence SOC </a:t>
            </a:r>
          </a:p>
          <a:p>
            <a:pPr>
              <a:defRPr b="1"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Platform  </a:t>
            </a:r>
          </a:p>
        </p:txBody>
      </p:sp>
      <p:sp>
        <p:nvSpPr>
          <p:cNvPr id="104" name="Slide Number Placeholder 5"/>
          <p:cNvSpPr txBox="1"/>
          <p:nvPr>
            <p:ph type="sldNum" sz="quarter" idx="4294967295"/>
          </p:nvPr>
        </p:nvSpPr>
        <p:spPr>
          <a:xfrm>
            <a:off x="11393502" y="6404295"/>
            <a:ext cx="188896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0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07214" y="-7191"/>
            <a:ext cx="1768775" cy="8351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8" name="THE PROBLEM…"/>
          <p:cNvGrpSpPr/>
          <p:nvPr/>
        </p:nvGrpSpPr>
        <p:grpSpPr>
          <a:xfrm>
            <a:off x="314800" y="1231269"/>
            <a:ext cx="3784224" cy="2531773"/>
            <a:chOff x="0" y="0"/>
            <a:chExt cx="3784222" cy="2531771"/>
          </a:xfrm>
        </p:grpSpPr>
        <p:sp>
          <p:nvSpPr>
            <p:cNvPr id="106" name="Rectangle"/>
            <p:cNvSpPr/>
            <p:nvPr/>
          </p:nvSpPr>
          <p:spPr>
            <a:xfrm>
              <a:off x="-1" y="-1"/>
              <a:ext cx="3784224" cy="2531773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>
                  <a:solidFill>
                    <a:srgbClr val="050505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7" name="THE PROBLEM…"/>
            <p:cNvSpPr txBox="1"/>
            <p:nvPr/>
          </p:nvSpPr>
          <p:spPr>
            <a:xfrm>
              <a:off x="12699" y="140666"/>
              <a:ext cx="3758824" cy="22504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defRPr>
                  <a:solidFill>
                    <a:srgbClr val="FF93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THE PROBLEM </a:t>
              </a:r>
            </a:p>
            <a:p>
              <a:pPr>
                <a:defRPr>
                  <a:solidFill>
                    <a:srgbClr val="FF93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  <a:p>
              <a:pPr>
                <a:lnSpc>
                  <a:spcPts val="1800"/>
                </a:lnSpc>
                <a:defRPr sz="1100">
                  <a:solidFill>
                    <a:srgbClr val="010101"/>
                  </a:solidFill>
                  <a:latin typeface="Inter"/>
                  <a:ea typeface="Inter"/>
                  <a:cs typeface="Inter"/>
                  <a:sym typeface="Inter"/>
                </a:defRPr>
              </a:pPr>
              <a:r>
                <a:t>Modern cyber threats exploit email vectors through complex phishing, spoofed headers, and multi-hop relay obfuscation. Security Operations Center (SOC) analysts face critical bottlenecks:</a:t>
              </a:r>
            </a:p>
            <a:p>
              <a:pPr>
                <a:defRPr sz="1200">
                  <a:solidFill>
                    <a:srgbClr val="050505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 Manual .eml/.msg header analysis is slow and error-prone</a:t>
              </a:r>
            </a:p>
            <a:p>
              <a:pPr>
                <a:defRPr sz="1200">
                  <a:solidFill>
                    <a:srgbClr val="050505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Limited SMTP-hop and GeoIP visibility</a:t>
              </a:r>
            </a:p>
            <a:p>
              <a:pPr>
                <a:defRPr sz="1200">
                  <a:solidFill>
                    <a:srgbClr val="050505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No tamper-evident evidence ledger for legal use</a:t>
              </a:r>
            </a:p>
          </p:txBody>
        </p:sp>
      </p:grpSp>
      <p:grpSp>
        <p:nvGrpSpPr>
          <p:cNvPr id="111" name="PROPOSED SOLUTION…"/>
          <p:cNvGrpSpPr/>
          <p:nvPr/>
        </p:nvGrpSpPr>
        <p:grpSpPr>
          <a:xfrm>
            <a:off x="4509751" y="540520"/>
            <a:ext cx="3622874" cy="4599939"/>
            <a:chOff x="0" y="-361949"/>
            <a:chExt cx="3622873" cy="4599937"/>
          </a:xfrm>
        </p:grpSpPr>
        <p:sp>
          <p:nvSpPr>
            <p:cNvPr id="109" name="Rectangle"/>
            <p:cNvSpPr/>
            <p:nvPr/>
          </p:nvSpPr>
          <p:spPr>
            <a:xfrm>
              <a:off x="0" y="334688"/>
              <a:ext cx="3622874" cy="320666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b="1" sz="1600">
                  <a:solidFill>
                    <a:srgbClr val="38BDF8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10" name="An integrated, automated Email Forensics &amp; Threat Intelligence Platform that ingests raw email artifacts, extracts deep metadata, and generates court-admissible dossiers:…"/>
            <p:cNvSpPr txBox="1"/>
            <p:nvPr/>
          </p:nvSpPr>
          <p:spPr>
            <a:xfrm>
              <a:off x="12700" y="-361950"/>
              <a:ext cx="3597474" cy="4599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defRPr b="1">
                  <a:solidFill>
                    <a:srgbClr val="38BDF8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 </a:t>
              </a:r>
            </a:p>
            <a:p>
              <a:pPr>
                <a:defRPr b="1">
                  <a:solidFill>
                    <a:srgbClr val="38BDF8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  <a:p>
              <a:pPr>
                <a:defRPr b="1">
                  <a:solidFill>
                    <a:srgbClr val="38BDF8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  <a:p>
              <a:pPr>
                <a:lnSpc>
                  <a:spcPts val="1800"/>
                </a:lnSpc>
                <a:defRPr sz="1100">
                  <a:solidFill>
                    <a:srgbClr val="060606"/>
                  </a:solidFill>
                  <a:latin typeface="Inter"/>
                  <a:ea typeface="Inter"/>
                  <a:cs typeface="Inter"/>
                  <a:sym typeface="Inter"/>
                </a:defRPr>
              </a:pPr>
              <a:endParaRPr b="1">
                <a:solidFill>
                  <a:srgbClr val="38BDF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lnSpc>
                  <a:spcPts val="1800"/>
                </a:lnSpc>
                <a:defRPr sz="1100">
                  <a:solidFill>
                    <a:srgbClr val="060606"/>
                  </a:solidFill>
                  <a:latin typeface="Inter"/>
                  <a:ea typeface="Inter"/>
                  <a:cs typeface="Inter"/>
                  <a:sym typeface="Inter"/>
                </a:defRPr>
              </a:pPr>
              <a:endParaRPr b="1">
                <a:solidFill>
                  <a:srgbClr val="38BDF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lnSpc>
                  <a:spcPts val="1800"/>
                </a:lnSpc>
                <a:defRPr sz="1100">
                  <a:solidFill>
                    <a:srgbClr val="060606"/>
                  </a:solidFill>
                  <a:latin typeface="Inter"/>
                  <a:ea typeface="Inter"/>
                  <a:cs typeface="Inter"/>
                  <a:sym typeface="Inter"/>
                </a:defRPr>
              </a:pPr>
              <a:r>
                <a:t>An integrated, automated Email Forensics &amp; Threat Intelligence Platform that ingests raw email artifacts, extracts deep metadata, and generates court-admissible dossiers:</a:t>
              </a:r>
            </a:p>
            <a:p>
              <a:pPr>
                <a:lnSpc>
                  <a:spcPts val="1800"/>
                </a:lnSpc>
                <a:defRPr sz="1100">
                  <a:solidFill>
                    <a:srgbClr val="050505"/>
                  </a:solidFill>
                  <a:latin typeface="Inter"/>
                  <a:ea typeface="Inter"/>
                  <a:cs typeface="Inter"/>
                  <a:sym typeface="Inter"/>
                </a:defRPr>
              </a:pPr>
              <a:r>
                <a:t>•  </a:t>
              </a:r>
              <a:r>
                <a:rPr>
                  <a:solidFill>
                    <a:srgbClr val="060606"/>
                  </a:solidFill>
                </a:rPr>
                <a:t>Automated header extraction and SPF / DKIM / DMARC authentication scoring.</a:t>
              </a:r>
              <a:endParaRPr>
                <a:solidFill>
                  <a:srgbClr val="060606"/>
                </a:solidFill>
              </a:endParaRPr>
            </a:p>
            <a:p>
              <a:pPr>
                <a:lnSpc>
                  <a:spcPts val="1800"/>
                </a:lnSpc>
                <a:defRPr sz="1100">
                  <a:solidFill>
                    <a:srgbClr val="050505"/>
                  </a:solidFill>
                  <a:latin typeface="Inter"/>
                  <a:ea typeface="Inter"/>
                  <a:cs typeface="Inter"/>
                  <a:sym typeface="Inter"/>
                </a:defRPr>
              </a:pPr>
              <a:r>
                <a:t>•  </a:t>
              </a:r>
              <a:r>
                <a:rPr>
                  <a:solidFill>
                    <a:srgbClr val="060606"/>
                  </a:solidFill>
                </a:rPr>
                <a:t>Interactive SMTP Routing Topology Graph and GeoIP map visualization.</a:t>
              </a:r>
              <a:endParaRPr>
                <a:solidFill>
                  <a:srgbClr val="060606"/>
                </a:solidFill>
              </a:endParaRPr>
            </a:p>
            <a:p>
              <a:pPr>
                <a:lnSpc>
                  <a:spcPts val="1800"/>
                </a:lnSpc>
                <a:defRPr sz="1100">
                  <a:solidFill>
                    <a:srgbClr val="050505"/>
                  </a:solidFill>
                  <a:latin typeface="Inter"/>
                  <a:ea typeface="Inter"/>
                  <a:cs typeface="Inter"/>
                  <a:sym typeface="Inter"/>
                </a:defRPr>
              </a:pPr>
              <a:r>
                <a:t>•  </a:t>
              </a:r>
              <a:r>
                <a:rPr>
                  <a:solidFill>
                    <a:srgbClr val="030303"/>
                  </a:solidFill>
                </a:rPr>
                <a:t>Cryptographic hash chaining to guarantee evidence integrity for court submission.</a:t>
              </a:r>
              <a:endParaRPr>
                <a:solidFill>
                  <a:srgbClr val="030303"/>
                </a:solidFill>
              </a:endParaRPr>
            </a:p>
            <a:p>
              <a:pPr>
                <a:defRPr b="1" sz="1600">
                  <a:solidFill>
                    <a:srgbClr val="030303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  <a:p>
              <a:pPr>
                <a:defRPr b="1" sz="1600">
                  <a:solidFill>
                    <a:srgbClr val="38BDF8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  <a:p>
              <a:pPr>
                <a:defRPr b="1" sz="1600">
                  <a:solidFill>
                    <a:srgbClr val="38BDF8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</p:grpSp>
      <p:grpSp>
        <p:nvGrpSpPr>
          <p:cNvPr id="114" name="WHY IT IS DIFFERENT…"/>
          <p:cNvGrpSpPr/>
          <p:nvPr/>
        </p:nvGrpSpPr>
        <p:grpSpPr>
          <a:xfrm>
            <a:off x="8543352" y="390780"/>
            <a:ext cx="3486302" cy="4345939"/>
            <a:chOff x="0" y="-438149"/>
            <a:chExt cx="3486301" cy="4345937"/>
          </a:xfrm>
        </p:grpSpPr>
        <p:sp>
          <p:nvSpPr>
            <p:cNvPr id="112" name="Rectangle"/>
            <p:cNvSpPr/>
            <p:nvPr/>
          </p:nvSpPr>
          <p:spPr>
            <a:xfrm>
              <a:off x="0" y="468933"/>
              <a:ext cx="3486302" cy="253177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>
                  <a:solidFill>
                    <a:srgbClr val="07070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3" name="SHA-256 hash-chained chain of custody…"/>
            <p:cNvSpPr txBox="1"/>
            <p:nvPr/>
          </p:nvSpPr>
          <p:spPr>
            <a:xfrm>
              <a:off x="12700" y="-438151"/>
              <a:ext cx="3460902" cy="4345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defRPr b="1">
                  <a:solidFill>
                    <a:srgbClr val="54C38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  <a:p>
              <a:pPr>
                <a:defRPr b="1">
                  <a:solidFill>
                    <a:srgbClr val="54C38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  <a:p>
              <a:pPr>
                <a:defRPr b="1">
                  <a:solidFill>
                    <a:srgbClr val="54C38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  <a:p>
              <a:pPr>
                <a:defRPr b="1" sz="1300">
                  <a:solidFill>
                    <a:srgbClr val="54C38F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defRPr b="1" sz="1300">
                  <a:solidFill>
                    <a:srgbClr val="54C38F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defRPr b="1" sz="1300">
                  <a:solidFill>
                    <a:srgbClr val="54C38F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defRPr b="1" sz="1300">
                  <a:solidFill>
                    <a:srgbClr val="54C38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 marL="120315" indent="-120315">
                <a:buSzPct val="100000"/>
                <a:buChar char="•"/>
                <a:defRPr sz="1200">
                  <a:solidFill>
                    <a:srgbClr val="07070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SHA-256 hash-chained chain of custody</a:t>
              </a:r>
            </a:p>
            <a:p>
              <a:pPr>
                <a:defRPr sz="1200">
                  <a:solidFill>
                    <a:srgbClr val="07070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 marL="120315" indent="-120315">
                <a:buSzPct val="100000"/>
                <a:buChar char="•"/>
                <a:defRPr sz="1200">
                  <a:solidFill>
                    <a:srgbClr val="07070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NLP urgency + GeoIP intelligence</a:t>
              </a:r>
            </a:p>
            <a:p>
              <a:pPr>
                <a:defRPr sz="1200">
                  <a:solidFill>
                    <a:srgbClr val="07070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1200">
                  <a:solidFill>
                    <a:srgbClr val="07070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One-click standardized forensic PDF dossier</a:t>
              </a:r>
            </a:p>
            <a:p>
              <a:pPr>
                <a:defRPr b="1" sz="1300">
                  <a:solidFill>
                    <a:srgbClr val="54C38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b="1" sz="1300">
                  <a:solidFill>
                    <a:srgbClr val="54C38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b="1" sz="1300">
                  <a:solidFill>
                    <a:srgbClr val="54C38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b="1" sz="1300">
                  <a:solidFill>
                    <a:srgbClr val="54C38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b="1" sz="1300">
                  <a:solidFill>
                    <a:srgbClr val="54C38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b="1" sz="1300">
                  <a:solidFill>
                    <a:srgbClr val="54C38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1200">
                  <a:solidFill>
                    <a:srgbClr val="07070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1200">
                  <a:solidFill>
                    <a:srgbClr val="07070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grpSp>
        <p:nvGrpSpPr>
          <p:cNvPr id="117" name="EMAIL"/>
          <p:cNvGrpSpPr/>
          <p:nvPr/>
        </p:nvGrpSpPr>
        <p:grpSpPr>
          <a:xfrm>
            <a:off x="314800" y="4763758"/>
            <a:ext cx="1401096" cy="477840"/>
            <a:chOff x="0" y="0"/>
            <a:chExt cx="1401094" cy="477839"/>
          </a:xfrm>
        </p:grpSpPr>
        <p:sp>
          <p:nvSpPr>
            <p:cNvPr id="115" name="Rectangle"/>
            <p:cNvSpPr/>
            <p:nvPr/>
          </p:nvSpPr>
          <p:spPr>
            <a:xfrm>
              <a:off x="-1" y="-1"/>
              <a:ext cx="1401096" cy="47784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16" name="EMAIL"/>
            <p:cNvSpPr txBox="1"/>
            <p:nvPr/>
          </p:nvSpPr>
          <p:spPr>
            <a:xfrm>
              <a:off x="12699" y="72376"/>
              <a:ext cx="1375696" cy="3330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     EMAIL</a:t>
              </a:r>
            </a:p>
          </p:txBody>
        </p:sp>
      </p:grpSp>
      <p:grpSp>
        <p:nvGrpSpPr>
          <p:cNvPr id="120" name="AUTH"/>
          <p:cNvGrpSpPr/>
          <p:nvPr/>
        </p:nvGrpSpPr>
        <p:grpSpPr>
          <a:xfrm>
            <a:off x="2583532" y="4763758"/>
            <a:ext cx="1401094" cy="477840"/>
            <a:chOff x="0" y="0"/>
            <a:chExt cx="1401093" cy="477839"/>
          </a:xfrm>
        </p:grpSpPr>
        <p:sp>
          <p:nvSpPr>
            <p:cNvPr id="118" name="Rectangle"/>
            <p:cNvSpPr/>
            <p:nvPr/>
          </p:nvSpPr>
          <p:spPr>
            <a:xfrm>
              <a:off x="-1" y="-1"/>
              <a:ext cx="1401095" cy="47784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19" name="AUTH"/>
            <p:cNvSpPr txBox="1"/>
            <p:nvPr/>
          </p:nvSpPr>
          <p:spPr>
            <a:xfrm>
              <a:off x="12699" y="72376"/>
              <a:ext cx="1375695" cy="3330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      AUTH</a:t>
              </a:r>
            </a:p>
          </p:txBody>
        </p:sp>
      </p:grpSp>
      <p:grpSp>
        <p:nvGrpSpPr>
          <p:cNvPr id="123" name="NLP"/>
          <p:cNvGrpSpPr/>
          <p:nvPr/>
        </p:nvGrpSpPr>
        <p:grpSpPr>
          <a:xfrm>
            <a:off x="4586930" y="4764687"/>
            <a:ext cx="1401094" cy="477840"/>
            <a:chOff x="0" y="0"/>
            <a:chExt cx="1401093" cy="477839"/>
          </a:xfrm>
        </p:grpSpPr>
        <p:sp>
          <p:nvSpPr>
            <p:cNvPr id="121" name="Rectangle"/>
            <p:cNvSpPr/>
            <p:nvPr/>
          </p:nvSpPr>
          <p:spPr>
            <a:xfrm>
              <a:off x="-1" y="-1"/>
              <a:ext cx="1401095" cy="47784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22" name="NLP"/>
            <p:cNvSpPr txBox="1"/>
            <p:nvPr/>
          </p:nvSpPr>
          <p:spPr>
            <a:xfrm>
              <a:off x="12699" y="72376"/>
              <a:ext cx="1375695" cy="3330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        NLP</a:t>
              </a:r>
            </a:p>
          </p:txBody>
        </p:sp>
      </p:grpSp>
      <p:grpSp>
        <p:nvGrpSpPr>
          <p:cNvPr id="126" name="ROUTING"/>
          <p:cNvGrpSpPr/>
          <p:nvPr/>
        </p:nvGrpSpPr>
        <p:grpSpPr>
          <a:xfrm>
            <a:off x="6577627" y="4776458"/>
            <a:ext cx="1401094" cy="477840"/>
            <a:chOff x="0" y="0"/>
            <a:chExt cx="1401093" cy="477839"/>
          </a:xfrm>
        </p:grpSpPr>
        <p:sp>
          <p:nvSpPr>
            <p:cNvPr id="124" name="Rectangle"/>
            <p:cNvSpPr/>
            <p:nvPr/>
          </p:nvSpPr>
          <p:spPr>
            <a:xfrm>
              <a:off x="-1" y="-1"/>
              <a:ext cx="1401095" cy="47784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25" name="ROUTING"/>
            <p:cNvSpPr txBox="1"/>
            <p:nvPr/>
          </p:nvSpPr>
          <p:spPr>
            <a:xfrm>
              <a:off x="12699" y="72376"/>
              <a:ext cx="1375695" cy="3330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   ROUTING</a:t>
              </a:r>
            </a:p>
          </p:txBody>
        </p:sp>
      </p:grpSp>
      <p:grpSp>
        <p:nvGrpSpPr>
          <p:cNvPr id="129" name="GEOIP"/>
          <p:cNvGrpSpPr/>
          <p:nvPr/>
        </p:nvGrpSpPr>
        <p:grpSpPr>
          <a:xfrm>
            <a:off x="8593725" y="4763758"/>
            <a:ext cx="1401094" cy="477840"/>
            <a:chOff x="0" y="0"/>
            <a:chExt cx="1401093" cy="477839"/>
          </a:xfrm>
        </p:grpSpPr>
        <p:sp>
          <p:nvSpPr>
            <p:cNvPr id="127" name="Rectangle"/>
            <p:cNvSpPr/>
            <p:nvPr/>
          </p:nvSpPr>
          <p:spPr>
            <a:xfrm>
              <a:off x="-1" y="-1"/>
              <a:ext cx="1401095" cy="47784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28" name="GEOIP"/>
            <p:cNvSpPr txBox="1"/>
            <p:nvPr/>
          </p:nvSpPr>
          <p:spPr>
            <a:xfrm>
              <a:off x="12699" y="72376"/>
              <a:ext cx="1375695" cy="3330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      GEOIP</a:t>
              </a:r>
            </a:p>
          </p:txBody>
        </p:sp>
      </p:grpSp>
      <p:grpSp>
        <p:nvGrpSpPr>
          <p:cNvPr id="132" name="DOSSIER"/>
          <p:cNvGrpSpPr/>
          <p:nvPr/>
        </p:nvGrpSpPr>
        <p:grpSpPr>
          <a:xfrm>
            <a:off x="10626634" y="4763758"/>
            <a:ext cx="1401094" cy="477840"/>
            <a:chOff x="0" y="0"/>
            <a:chExt cx="1401093" cy="477839"/>
          </a:xfrm>
        </p:grpSpPr>
        <p:sp>
          <p:nvSpPr>
            <p:cNvPr id="130" name="Rectangle"/>
            <p:cNvSpPr/>
            <p:nvPr/>
          </p:nvSpPr>
          <p:spPr>
            <a:xfrm>
              <a:off x="-1" y="-1"/>
              <a:ext cx="1401095" cy="47784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31" name="DOSSIER"/>
            <p:cNvSpPr txBox="1"/>
            <p:nvPr/>
          </p:nvSpPr>
          <p:spPr>
            <a:xfrm>
              <a:off x="12699" y="72376"/>
              <a:ext cx="1375695" cy="3330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DOSSIER</a:t>
              </a:r>
            </a:p>
          </p:txBody>
        </p:sp>
      </p:grpSp>
      <p:sp>
        <p:nvSpPr>
          <p:cNvPr id="133" name="Line"/>
          <p:cNvSpPr/>
          <p:nvPr/>
        </p:nvSpPr>
        <p:spPr>
          <a:xfrm>
            <a:off x="1820689" y="5002677"/>
            <a:ext cx="658049" cy="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Line"/>
          <p:cNvSpPr/>
          <p:nvPr/>
        </p:nvSpPr>
        <p:spPr>
          <a:xfrm>
            <a:off x="4089420" y="5002677"/>
            <a:ext cx="422226" cy="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Line"/>
          <p:cNvSpPr/>
          <p:nvPr/>
        </p:nvSpPr>
        <p:spPr>
          <a:xfrm>
            <a:off x="6078063" y="5002677"/>
            <a:ext cx="422226" cy="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Line"/>
          <p:cNvSpPr/>
          <p:nvPr/>
        </p:nvSpPr>
        <p:spPr>
          <a:xfrm>
            <a:off x="8096215" y="5002677"/>
            <a:ext cx="422226" cy="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Line"/>
          <p:cNvSpPr/>
          <p:nvPr/>
        </p:nvSpPr>
        <p:spPr>
          <a:xfrm>
            <a:off x="10114368" y="5002677"/>
            <a:ext cx="422226" cy="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" name="Automated evidence journey — from raw email artifact to verifiable forensic output"/>
          <p:cNvSpPr txBox="1"/>
          <p:nvPr/>
        </p:nvSpPr>
        <p:spPr>
          <a:xfrm>
            <a:off x="3325415" y="5438365"/>
            <a:ext cx="517454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1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Automated evidence journey — from raw email artifact to verifiable forensic output</a:t>
            </a:r>
          </a:p>
        </p:txBody>
      </p:sp>
      <p:sp>
        <p:nvSpPr>
          <p:cNvPr id="139" name="Problem fit • proposed solution• innovation"/>
          <p:cNvSpPr txBox="1"/>
          <p:nvPr/>
        </p:nvSpPr>
        <p:spPr>
          <a:xfrm>
            <a:off x="375054" y="868784"/>
            <a:ext cx="2725833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Problem fit • proposed solution• innovation</a:t>
            </a:r>
          </a:p>
        </p:txBody>
      </p:sp>
      <p:sp>
        <p:nvSpPr>
          <p:cNvPr id="140" name="PROPOSED SOLUTION"/>
          <p:cNvSpPr txBox="1"/>
          <p:nvPr/>
        </p:nvSpPr>
        <p:spPr>
          <a:xfrm>
            <a:off x="4647631" y="1309439"/>
            <a:ext cx="2530111" cy="348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PROPOSED SOLUTION </a:t>
            </a:r>
          </a:p>
        </p:txBody>
      </p:sp>
      <p:sp>
        <p:nvSpPr>
          <p:cNvPr id="141" name="WHY IT IS DIFFERENT"/>
          <p:cNvSpPr txBox="1"/>
          <p:nvPr/>
        </p:nvSpPr>
        <p:spPr>
          <a:xfrm>
            <a:off x="8657750" y="1313662"/>
            <a:ext cx="2512922" cy="348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00F9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WHY IT IS DIFFERENT </a:t>
            </a:r>
          </a:p>
        </p:txBody>
      </p:sp>
      <p:sp>
        <p:nvSpPr>
          <p:cNvPr id="142" name="Oval"/>
          <p:cNvSpPr/>
          <p:nvPr/>
        </p:nvSpPr>
        <p:spPr>
          <a:xfrm>
            <a:off x="99342" y="70661"/>
            <a:ext cx="1151905" cy="679478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3" name="The…"/>
          <p:cNvSpPr txBox="1"/>
          <p:nvPr/>
        </p:nvSpPr>
        <p:spPr>
          <a:xfrm>
            <a:off x="239096" y="140397"/>
            <a:ext cx="1056601" cy="540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Mentalists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46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TECHNICAL APPROACH</a:t>
            </a:r>
          </a:p>
        </p:txBody>
      </p:sp>
      <p:sp>
        <p:nvSpPr>
          <p:cNvPr id="148" name="Slide Number Placeholder 5"/>
          <p:cNvSpPr txBox="1"/>
          <p:nvPr>
            <p:ph type="sldNum" sz="quarter" idx="4294967295"/>
          </p:nvPr>
        </p:nvSpPr>
        <p:spPr>
          <a:xfrm>
            <a:off x="11393502" y="6404295"/>
            <a:ext cx="188896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49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Architecture + implementation pipeline"/>
          <p:cNvSpPr txBox="1"/>
          <p:nvPr/>
        </p:nvSpPr>
        <p:spPr>
          <a:xfrm>
            <a:off x="137908" y="774618"/>
            <a:ext cx="2476446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Architecture + implementation pipeline</a:t>
            </a:r>
          </a:p>
        </p:txBody>
      </p:sp>
      <p:grpSp>
        <p:nvGrpSpPr>
          <p:cNvPr id="153" name="Next.js + TypeScript + Tailwind  •  SOC Dashboard  •  React Flow topology  •  Leaflet GeoIP map"/>
          <p:cNvGrpSpPr/>
          <p:nvPr/>
        </p:nvGrpSpPr>
        <p:grpSpPr>
          <a:xfrm>
            <a:off x="443609" y="1121124"/>
            <a:ext cx="10947401" cy="648068"/>
            <a:chOff x="0" y="0"/>
            <a:chExt cx="10947400" cy="648066"/>
          </a:xfrm>
        </p:grpSpPr>
        <p:sp>
          <p:nvSpPr>
            <p:cNvPr id="151" name="Rounded Rectangle"/>
            <p:cNvSpPr/>
            <p:nvPr/>
          </p:nvSpPr>
          <p:spPr>
            <a:xfrm>
              <a:off x="0" y="0"/>
              <a:ext cx="10947401" cy="648067"/>
            </a:xfrm>
            <a:prstGeom prst="roundRect">
              <a:avLst>
                <a:gd name="adj" fmla="val 29395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100"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2" name="Next.js + TypeScript + Tailwind  •  SOC Dashboard  •  React Flow topology  •  Leaflet GeoIP map"/>
            <p:cNvSpPr txBox="1"/>
            <p:nvPr/>
          </p:nvSpPr>
          <p:spPr>
            <a:xfrm>
              <a:off x="68494" y="113214"/>
              <a:ext cx="10810413" cy="421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defRPr sz="1100"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1100">
                  <a:latin typeface="Aptos"/>
                  <a:ea typeface="Aptos"/>
                  <a:cs typeface="Aptos"/>
                  <a:sym typeface="Aptos"/>
                </a:defRPr>
              </a:pPr>
              <a:r>
                <a:t>            Next.js + TypeScript + Tailwind  •  SOC Dashboard  •  React Flow topology  •  Leaflet GeoIP map</a:t>
              </a:r>
            </a:p>
          </p:txBody>
        </p:sp>
      </p:grpSp>
      <p:sp>
        <p:nvSpPr>
          <p:cNvPr id="154" name="FRONTEND"/>
          <p:cNvSpPr txBox="1"/>
          <p:nvPr/>
        </p:nvSpPr>
        <p:spPr>
          <a:xfrm>
            <a:off x="865483" y="1152060"/>
            <a:ext cx="1021298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300">
                <a:solidFill>
                  <a:srgbClr val="42AAE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155" name="Rounded Rectangle"/>
          <p:cNvSpPr/>
          <p:nvPr/>
        </p:nvSpPr>
        <p:spPr>
          <a:xfrm>
            <a:off x="443609" y="2218364"/>
            <a:ext cx="10947401" cy="648069"/>
          </a:xfrm>
          <a:prstGeom prst="roundRect">
            <a:avLst>
              <a:gd name="adj" fmla="val 29395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" name="Rounded Rectangle"/>
          <p:cNvSpPr/>
          <p:nvPr/>
        </p:nvSpPr>
        <p:spPr>
          <a:xfrm>
            <a:off x="443609" y="3374795"/>
            <a:ext cx="10947401" cy="6480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75" y="21600"/>
                </a:moveTo>
                <a:lnTo>
                  <a:pt x="21025" y="21600"/>
                </a:lnTo>
                <a:cubicBezTo>
                  <a:pt x="21194" y="21600"/>
                  <a:pt x="21295" y="21600"/>
                  <a:pt x="21363" y="21124"/>
                </a:cubicBezTo>
                <a:cubicBezTo>
                  <a:pt x="21460" y="20527"/>
                  <a:pt x="21536" y="19233"/>
                  <a:pt x="21572" y="17590"/>
                </a:cubicBezTo>
                <a:cubicBezTo>
                  <a:pt x="21600" y="16451"/>
                  <a:pt x="21600" y="14742"/>
                  <a:pt x="21600" y="11894"/>
                </a:cubicBezTo>
                <a:lnTo>
                  <a:pt x="21600" y="9706"/>
                </a:lnTo>
                <a:cubicBezTo>
                  <a:pt x="21600" y="6858"/>
                  <a:pt x="21600" y="5149"/>
                  <a:pt x="21572" y="4010"/>
                </a:cubicBezTo>
                <a:cubicBezTo>
                  <a:pt x="21536" y="2367"/>
                  <a:pt x="21460" y="1073"/>
                  <a:pt x="21363" y="476"/>
                </a:cubicBezTo>
                <a:cubicBezTo>
                  <a:pt x="21295" y="0"/>
                  <a:pt x="21194" y="0"/>
                  <a:pt x="21025" y="0"/>
                </a:cubicBezTo>
                <a:lnTo>
                  <a:pt x="575" y="0"/>
                </a:lnTo>
                <a:cubicBezTo>
                  <a:pt x="406" y="0"/>
                  <a:pt x="305" y="0"/>
                  <a:pt x="237" y="476"/>
                </a:cubicBezTo>
                <a:cubicBezTo>
                  <a:pt x="140" y="1073"/>
                  <a:pt x="64" y="2367"/>
                  <a:pt x="28" y="4010"/>
                </a:cubicBezTo>
                <a:cubicBezTo>
                  <a:pt x="0" y="5149"/>
                  <a:pt x="0" y="6858"/>
                  <a:pt x="0" y="9706"/>
                </a:cubicBezTo>
                <a:lnTo>
                  <a:pt x="0" y="11894"/>
                </a:lnTo>
                <a:cubicBezTo>
                  <a:pt x="0" y="14742"/>
                  <a:pt x="0" y="16451"/>
                  <a:pt x="28" y="17590"/>
                </a:cubicBezTo>
                <a:cubicBezTo>
                  <a:pt x="64" y="19233"/>
                  <a:pt x="140" y="20527"/>
                  <a:pt x="237" y="21124"/>
                </a:cubicBezTo>
                <a:cubicBezTo>
                  <a:pt x="305" y="21600"/>
                  <a:pt x="406" y="21600"/>
                  <a:pt x="575" y="2160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" name="BACKEND"/>
          <p:cNvSpPr txBox="1"/>
          <p:nvPr/>
        </p:nvSpPr>
        <p:spPr>
          <a:xfrm>
            <a:off x="911312" y="2282581"/>
            <a:ext cx="929639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300">
                <a:solidFill>
                  <a:srgbClr val="54C38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158" name="FastAPI + Python  •  Email Parser  •  SPF/DKIM/DMARC verification  •  NLP urgency scoring  •  Threat scoring"/>
          <p:cNvSpPr txBox="1"/>
          <p:nvPr/>
        </p:nvSpPr>
        <p:spPr>
          <a:xfrm>
            <a:off x="982378" y="2573202"/>
            <a:ext cx="8092673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FastAPI + Python  •  Email Parser  •  SPF/DKIM/DMARC verification  •  NLP urgency scoring  •  Threat scoring</a:t>
            </a:r>
          </a:p>
        </p:txBody>
      </p:sp>
      <p:sp>
        <p:nvSpPr>
          <p:cNvPr id="159" name="EVIDENCE &amp; INTELLIGENCE"/>
          <p:cNvSpPr txBox="1"/>
          <p:nvPr/>
        </p:nvSpPr>
        <p:spPr>
          <a:xfrm>
            <a:off x="945018" y="3413101"/>
            <a:ext cx="2369911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300">
                <a:solidFill>
                  <a:srgbClr val="F4B14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EVIDENCE &amp; INTELLIGENCE</a:t>
            </a:r>
          </a:p>
        </p:txBody>
      </p:sp>
      <p:sp>
        <p:nvSpPr>
          <p:cNvPr id="160" name="Email metadata  •  SMTP hop data  •  GeoIP intelligence  •  SHA-256 audit ledger  •  Court-ready PDF dossier"/>
          <p:cNvSpPr txBox="1"/>
          <p:nvPr/>
        </p:nvSpPr>
        <p:spPr>
          <a:xfrm>
            <a:off x="1008197" y="3696821"/>
            <a:ext cx="6871677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Email metadata  •  SMTP hop data  •  GeoIP intelligence  •  SHA-256 audit ledger  •  Court-ready PDF dossier</a:t>
            </a:r>
          </a:p>
        </p:txBody>
      </p:sp>
      <p:sp>
        <p:nvSpPr>
          <p:cNvPr id="161" name="Line"/>
          <p:cNvSpPr/>
          <p:nvPr/>
        </p:nvSpPr>
        <p:spPr>
          <a:xfrm flipV="1">
            <a:off x="5645203" y="2907287"/>
            <a:ext cx="2" cy="42827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" name="Line"/>
          <p:cNvSpPr/>
          <p:nvPr/>
        </p:nvSpPr>
        <p:spPr>
          <a:xfrm flipV="1">
            <a:off x="5645203" y="1794942"/>
            <a:ext cx="2" cy="42827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" name="Implementation Process &amp; Pipeline :-"/>
          <p:cNvSpPr txBox="1"/>
          <p:nvPr/>
        </p:nvSpPr>
        <p:spPr>
          <a:xfrm>
            <a:off x="208316" y="4068327"/>
            <a:ext cx="5256847" cy="433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Process &amp; Pipeline :- </a:t>
            </a:r>
          </a:p>
        </p:txBody>
      </p:sp>
      <p:grpSp>
        <p:nvGrpSpPr>
          <p:cNvPr id="166" name="01"/>
          <p:cNvGrpSpPr/>
          <p:nvPr/>
        </p:nvGrpSpPr>
        <p:grpSpPr>
          <a:xfrm>
            <a:off x="1393837" y="4648155"/>
            <a:ext cx="675791" cy="562995"/>
            <a:chOff x="0" y="0"/>
            <a:chExt cx="675790" cy="562993"/>
          </a:xfrm>
        </p:grpSpPr>
        <p:sp>
          <p:nvSpPr>
            <p:cNvPr id="164" name="Oval"/>
            <p:cNvSpPr/>
            <p:nvPr/>
          </p:nvSpPr>
          <p:spPr>
            <a:xfrm>
              <a:off x="-1" y="0"/>
              <a:ext cx="675792" cy="56299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5" name="01"/>
            <p:cNvSpPr txBox="1"/>
            <p:nvPr/>
          </p:nvSpPr>
          <p:spPr>
            <a:xfrm>
              <a:off x="111666" y="70677"/>
              <a:ext cx="452458" cy="421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>
                  <a:latin typeface="Arial Black"/>
                  <a:ea typeface="Arial Black"/>
                  <a:cs typeface="Arial Black"/>
                  <a:sym typeface="Arial Black"/>
                </a:defRPr>
              </a:lvl1pPr>
            </a:lstStyle>
            <a:p>
              <a:pPr/>
              <a:r>
                <a:t>01</a:t>
              </a:r>
            </a:p>
          </p:txBody>
        </p:sp>
      </p:grpSp>
      <p:grpSp>
        <p:nvGrpSpPr>
          <p:cNvPr id="169" name="02"/>
          <p:cNvGrpSpPr/>
          <p:nvPr/>
        </p:nvGrpSpPr>
        <p:grpSpPr>
          <a:xfrm>
            <a:off x="4284545" y="4635455"/>
            <a:ext cx="675791" cy="562995"/>
            <a:chOff x="0" y="0"/>
            <a:chExt cx="675790" cy="562993"/>
          </a:xfrm>
        </p:grpSpPr>
        <p:sp>
          <p:nvSpPr>
            <p:cNvPr id="167" name="Oval"/>
            <p:cNvSpPr/>
            <p:nvPr/>
          </p:nvSpPr>
          <p:spPr>
            <a:xfrm>
              <a:off x="-1" y="0"/>
              <a:ext cx="675792" cy="56299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8" name="02"/>
            <p:cNvSpPr txBox="1"/>
            <p:nvPr/>
          </p:nvSpPr>
          <p:spPr>
            <a:xfrm>
              <a:off x="111666" y="70677"/>
              <a:ext cx="452458" cy="421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>
                  <a:latin typeface="Arial Black"/>
                  <a:ea typeface="Arial Black"/>
                  <a:cs typeface="Arial Black"/>
                  <a:sym typeface="Arial Black"/>
                </a:defRPr>
              </a:lvl1pPr>
            </a:lstStyle>
            <a:p>
              <a:pPr/>
              <a:r>
                <a:t>02</a:t>
              </a:r>
            </a:p>
          </p:txBody>
        </p:sp>
      </p:grpSp>
      <p:grpSp>
        <p:nvGrpSpPr>
          <p:cNvPr id="172" name="03"/>
          <p:cNvGrpSpPr/>
          <p:nvPr/>
        </p:nvGrpSpPr>
        <p:grpSpPr>
          <a:xfrm>
            <a:off x="6968490" y="4673555"/>
            <a:ext cx="675793" cy="562995"/>
            <a:chOff x="0" y="0"/>
            <a:chExt cx="675791" cy="562993"/>
          </a:xfrm>
        </p:grpSpPr>
        <p:sp>
          <p:nvSpPr>
            <p:cNvPr id="170" name="Oval"/>
            <p:cNvSpPr/>
            <p:nvPr/>
          </p:nvSpPr>
          <p:spPr>
            <a:xfrm>
              <a:off x="0" y="0"/>
              <a:ext cx="675792" cy="56299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1" name="03"/>
            <p:cNvSpPr txBox="1"/>
            <p:nvPr/>
          </p:nvSpPr>
          <p:spPr>
            <a:xfrm>
              <a:off x="111666" y="70677"/>
              <a:ext cx="452459" cy="421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>
                  <a:latin typeface="Arial Black"/>
                  <a:ea typeface="Arial Black"/>
                  <a:cs typeface="Arial Black"/>
                  <a:sym typeface="Arial Black"/>
                </a:defRPr>
              </a:lvl1pPr>
            </a:lstStyle>
            <a:p>
              <a:pPr/>
              <a:r>
                <a:t>03</a:t>
              </a:r>
            </a:p>
          </p:txBody>
        </p:sp>
      </p:grpSp>
      <p:grpSp>
        <p:nvGrpSpPr>
          <p:cNvPr id="175" name="04"/>
          <p:cNvGrpSpPr/>
          <p:nvPr/>
        </p:nvGrpSpPr>
        <p:grpSpPr>
          <a:xfrm>
            <a:off x="9917121" y="4655339"/>
            <a:ext cx="675791" cy="562995"/>
            <a:chOff x="0" y="0"/>
            <a:chExt cx="675790" cy="562993"/>
          </a:xfrm>
        </p:grpSpPr>
        <p:sp>
          <p:nvSpPr>
            <p:cNvPr id="173" name="Oval"/>
            <p:cNvSpPr/>
            <p:nvPr/>
          </p:nvSpPr>
          <p:spPr>
            <a:xfrm>
              <a:off x="-1" y="0"/>
              <a:ext cx="675792" cy="56299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4" name="04"/>
            <p:cNvSpPr txBox="1"/>
            <p:nvPr/>
          </p:nvSpPr>
          <p:spPr>
            <a:xfrm>
              <a:off x="111666" y="70677"/>
              <a:ext cx="452458" cy="421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>
                  <a:latin typeface="Arial Black"/>
                  <a:ea typeface="Arial Black"/>
                  <a:cs typeface="Arial Black"/>
                  <a:sym typeface="Arial Black"/>
                </a:defRPr>
              </a:lvl1pPr>
            </a:lstStyle>
            <a:p>
              <a:pPr/>
              <a:r>
                <a:t>04</a:t>
              </a:r>
            </a:p>
          </p:txBody>
        </p:sp>
      </p:grpSp>
      <p:sp>
        <p:nvSpPr>
          <p:cNvPr id="176" name="Line"/>
          <p:cNvSpPr/>
          <p:nvPr/>
        </p:nvSpPr>
        <p:spPr>
          <a:xfrm>
            <a:off x="2092815" y="4942351"/>
            <a:ext cx="2165999" cy="2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Line"/>
          <p:cNvSpPr/>
          <p:nvPr/>
        </p:nvSpPr>
        <p:spPr>
          <a:xfrm>
            <a:off x="4974756" y="4942351"/>
            <a:ext cx="1961306" cy="2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Line"/>
          <p:cNvSpPr/>
          <p:nvPr/>
        </p:nvSpPr>
        <p:spPr>
          <a:xfrm>
            <a:off x="7666212" y="4955051"/>
            <a:ext cx="2216277" cy="2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9" name="File Ingestion"/>
          <p:cNvSpPr txBox="1"/>
          <p:nvPr/>
        </p:nvSpPr>
        <p:spPr>
          <a:xfrm>
            <a:off x="1033450" y="5332025"/>
            <a:ext cx="1168179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b="1" sz="1300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File Ingestion</a:t>
            </a:r>
          </a:p>
        </p:txBody>
      </p:sp>
      <p:sp>
        <p:nvSpPr>
          <p:cNvPr id="180" name="Upload .eml / .msg raw emails via React Dropzone to POST /api/analyze API."/>
          <p:cNvSpPr txBox="1"/>
          <p:nvPr/>
        </p:nvSpPr>
        <p:spPr>
          <a:xfrm>
            <a:off x="376105" y="5771830"/>
            <a:ext cx="2711256" cy="437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4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Upload .eml / .msg raw emails via React Dropzone to POST /api/analyze API.</a:t>
            </a:r>
          </a:p>
        </p:txBody>
      </p:sp>
      <p:sp>
        <p:nvSpPr>
          <p:cNvPr id="181" name="Header &amp; NLP Parsing"/>
          <p:cNvSpPr txBox="1"/>
          <p:nvPr/>
        </p:nvSpPr>
        <p:spPr>
          <a:xfrm>
            <a:off x="3799156" y="5332025"/>
            <a:ext cx="2112330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300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Header &amp; NLP Parsing</a:t>
            </a:r>
          </a:p>
        </p:txBody>
      </p:sp>
      <p:sp>
        <p:nvSpPr>
          <p:cNvPr id="182" name="Extract Received headers, SPF/DKIM validation, &amp; NLP urgency scoring"/>
          <p:cNvSpPr txBox="1"/>
          <p:nvPr/>
        </p:nvSpPr>
        <p:spPr>
          <a:xfrm>
            <a:off x="3639687" y="5747540"/>
            <a:ext cx="2585476" cy="437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4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Extract Received headers, SPF/DKIM validation, &amp; NLP urgency scoring</a:t>
            </a:r>
          </a:p>
        </p:txBody>
      </p:sp>
      <p:sp>
        <p:nvSpPr>
          <p:cNvPr id="183" name="Topology &amp; GeoIP Map"/>
          <p:cNvSpPr txBox="1"/>
          <p:nvPr/>
        </p:nvSpPr>
        <p:spPr>
          <a:xfrm>
            <a:off x="6679207" y="5332025"/>
            <a:ext cx="1895974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b="1" sz="1300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Topology &amp; GeoIP Map</a:t>
            </a:r>
          </a:p>
        </p:txBody>
      </p:sp>
      <p:sp>
        <p:nvSpPr>
          <p:cNvPr id="184" name="Reconstruct SMTP hop network graph and pin origin coordinates on Leaflet map."/>
          <p:cNvSpPr txBox="1"/>
          <p:nvPr/>
        </p:nvSpPr>
        <p:spPr>
          <a:xfrm>
            <a:off x="6559129" y="5745384"/>
            <a:ext cx="2476450" cy="437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4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Reconstruct SMTP hop network graph and pin origin coordinates on Leaflet map.</a:t>
            </a:r>
          </a:p>
        </p:txBody>
      </p:sp>
      <p:sp>
        <p:nvSpPr>
          <p:cNvPr id="185" name="Ledger &amp; PDF Export"/>
          <p:cNvSpPr txBox="1"/>
          <p:nvPr/>
        </p:nvSpPr>
        <p:spPr>
          <a:xfrm>
            <a:off x="9611624" y="5332025"/>
            <a:ext cx="1764490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b="1" sz="1300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Ledger &amp; PDF Export</a:t>
            </a:r>
          </a:p>
        </p:txBody>
      </p:sp>
      <p:sp>
        <p:nvSpPr>
          <p:cNvPr id="186" name="Hash-chained audit log creation &amp; 1-click generation of court PDF report."/>
          <p:cNvSpPr txBox="1"/>
          <p:nvPr/>
        </p:nvSpPr>
        <p:spPr>
          <a:xfrm>
            <a:off x="9489016" y="5771830"/>
            <a:ext cx="2249852" cy="437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4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Hash-chained audit log creation &amp; 1-click generation of court PDF report.</a:t>
            </a:r>
          </a:p>
        </p:txBody>
      </p:sp>
      <p:sp>
        <p:nvSpPr>
          <p:cNvPr id="187" name="Oval"/>
          <p:cNvSpPr/>
          <p:nvPr/>
        </p:nvSpPr>
        <p:spPr>
          <a:xfrm>
            <a:off x="199674" y="62555"/>
            <a:ext cx="1330128" cy="679478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88" name="The…"/>
          <p:cNvSpPr txBox="1"/>
          <p:nvPr/>
        </p:nvSpPr>
        <p:spPr>
          <a:xfrm>
            <a:off x="336437" y="94730"/>
            <a:ext cx="1056602" cy="615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Mentalists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91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FEASIBILITY AND VIABILITY</a:t>
            </a:r>
          </a:p>
        </p:txBody>
      </p:sp>
      <p:sp>
        <p:nvSpPr>
          <p:cNvPr id="193" name="Slide Number Placeholder 5"/>
          <p:cNvSpPr txBox="1"/>
          <p:nvPr>
            <p:ph type="sldNum" sz="quarter" idx="4294967295"/>
          </p:nvPr>
        </p:nvSpPr>
        <p:spPr>
          <a:xfrm>
            <a:off x="11393502" y="6404295"/>
            <a:ext cx="188896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9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4033" y="-7294"/>
            <a:ext cx="2249853" cy="10623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ChatGPT Image Sep 8, 2026 at 11_21_53 PM.png" descr="ChatGPT Image Sep 8, 2026 at 11_21_5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4083" y="985395"/>
            <a:ext cx="9443834" cy="5314981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Risk → mitigation → implementation confidence"/>
          <p:cNvSpPr txBox="1"/>
          <p:nvPr/>
        </p:nvSpPr>
        <p:spPr>
          <a:xfrm>
            <a:off x="324581" y="785124"/>
            <a:ext cx="3070172" cy="259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Risk → mitigation → implementation confidence</a:t>
            </a:r>
          </a:p>
        </p:txBody>
      </p:sp>
      <p:sp>
        <p:nvSpPr>
          <p:cNvPr id="197" name="Oval"/>
          <p:cNvSpPr/>
          <p:nvPr/>
        </p:nvSpPr>
        <p:spPr>
          <a:xfrm>
            <a:off x="257237" y="109655"/>
            <a:ext cx="1330129" cy="679478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98" name="The…"/>
          <p:cNvSpPr txBox="1"/>
          <p:nvPr/>
        </p:nvSpPr>
        <p:spPr>
          <a:xfrm>
            <a:off x="394001" y="141830"/>
            <a:ext cx="1056601" cy="615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Mentalists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201" name="Rectangle 9"/>
          <p:cNvSpPr/>
          <p:nvPr/>
        </p:nvSpPr>
        <p:spPr>
          <a:xfrm>
            <a:off x="0" y="6469889"/>
            <a:ext cx="12192000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2" name="Title 1"/>
          <p:cNvSpPr txBox="1"/>
          <p:nvPr>
            <p:ph type="title"/>
          </p:nvPr>
        </p:nvSpPr>
        <p:spPr>
          <a:xfrm>
            <a:off x="609600" y="-38832"/>
            <a:ext cx="10972800" cy="1143001"/>
          </a:xfrm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IMPACT AND BENEFITS</a:t>
            </a:r>
          </a:p>
        </p:txBody>
      </p:sp>
      <p:sp>
        <p:nvSpPr>
          <p:cNvPr id="203" name="Slide Number Placeholder 5"/>
          <p:cNvSpPr txBox="1"/>
          <p:nvPr>
            <p:ph type="sldNum" sz="quarter" idx="4294967295"/>
          </p:nvPr>
        </p:nvSpPr>
        <p:spPr>
          <a:xfrm>
            <a:off x="11393502" y="6404295"/>
            <a:ext cx="188896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20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WhatsApp Image 2026-09-08 at 11.35.08 PM.jpeg" descr="WhatsApp Image 2026-09-08 at 11.35.08 PM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3663" y="1096326"/>
            <a:ext cx="10284674" cy="5341076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Who benefits • what improves • how it scales"/>
          <p:cNvSpPr txBox="1"/>
          <p:nvPr/>
        </p:nvSpPr>
        <p:spPr>
          <a:xfrm>
            <a:off x="388776" y="773364"/>
            <a:ext cx="2872901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Who benefits • what improves • how it scales</a:t>
            </a:r>
          </a:p>
        </p:txBody>
      </p:sp>
      <p:sp>
        <p:nvSpPr>
          <p:cNvPr id="207" name="Oval"/>
          <p:cNvSpPr/>
          <p:nvPr/>
        </p:nvSpPr>
        <p:spPr>
          <a:xfrm>
            <a:off x="257237" y="109655"/>
            <a:ext cx="1330129" cy="679478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08" name="The…"/>
          <p:cNvSpPr txBox="1"/>
          <p:nvPr/>
        </p:nvSpPr>
        <p:spPr>
          <a:xfrm>
            <a:off x="394001" y="141830"/>
            <a:ext cx="1056601" cy="615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Mentalists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211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RESEARCH  AND REFERENCES</a:t>
            </a:r>
          </a:p>
        </p:txBody>
      </p:sp>
      <p:sp>
        <p:nvSpPr>
          <p:cNvPr id="213" name="Slide Number Placeholder 5"/>
          <p:cNvSpPr txBox="1"/>
          <p:nvPr>
            <p:ph type="sldNum" sz="quarter" idx="4294967295"/>
          </p:nvPr>
        </p:nvSpPr>
        <p:spPr>
          <a:xfrm>
            <a:off x="11393502" y="6404295"/>
            <a:ext cx="188896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14" name="Oval 8"/>
          <p:cNvSpPr/>
          <p:nvPr/>
        </p:nvSpPr>
        <p:spPr>
          <a:xfrm>
            <a:off x="249182" y="129001"/>
            <a:ext cx="1251861" cy="80733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4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pic>
        <p:nvPicPr>
          <p:cNvPr id="215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3" cy="106233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16" name="Table 1"/>
          <p:cNvGraphicFramePr/>
          <p:nvPr/>
        </p:nvGraphicFramePr>
        <p:xfrm>
          <a:off x="467755" y="1238688"/>
          <a:ext cx="11269190" cy="466156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5628244"/>
                <a:gridCol w="5628244"/>
              </a:tblGrid>
              <a:tr h="1549619">
                <a:tc>
                  <a:txBody>
                    <a:bodyPr/>
                    <a:lstStyle/>
                    <a:p>
                      <a:pPr algn="l">
                        <a:defRPr sz="1800">
                          <a:sym typeface="Helvetica"/>
                        </a:defRPr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indent="457200">
                        <a:defRPr sz="1800"/>
                      </a:pPr>
                      <a:r>
                        <a:rPr sz="1200">
                          <a:sym typeface="Helvetica"/>
                        </a:rPr>
                        <a:t>
</a:t>
                      </a:r>
                    </a:p>
                  </a:txBody>
                  <a:tcPr marL="0" marR="0" marT="0" marB="0" anchor="t" anchorCtr="0" horzOverflow="overflow"/>
                </a:tc>
              </a:tr>
              <a:tr h="1549619">
                <a:tc>
                  <a:txBody>
                    <a:bodyPr/>
                    <a:lstStyle/>
                    <a:p>
                      <a:pPr indent="457200">
                        <a:defRPr>
                          <a:sym typeface="Helvetica"/>
                        </a:defRPr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indent="457200">
                        <a:defRPr>
                          <a:sym typeface="Helvetica"/>
                        </a:defRPr>
                      </a:pPr>
                    </a:p>
                  </a:txBody>
                  <a:tcPr marL="0" marR="0" marT="0" marB="0" anchor="t" anchorCtr="0" horzOverflow="overflow"/>
                </a:tc>
              </a:tr>
              <a:tr h="1549619">
                <a:tc>
                  <a:txBody>
                    <a:bodyPr/>
                    <a:lstStyle/>
                    <a:p>
                      <a:pPr indent="457200">
                        <a:defRPr>
                          <a:sym typeface="Helvetica"/>
                        </a:defRPr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indent="457200">
                        <a:defRPr>
                          <a:sym typeface="Helvetica"/>
                        </a:defRPr>
                      </a:pPr>
                    </a:p>
                  </a:txBody>
                  <a:tcPr marL="0" marR="0" marT="0" marB="0" anchor="t" anchorCtr="0" horzOverflow="overflow"/>
                </a:tc>
              </a:tr>
            </a:tbl>
          </a:graphicData>
        </a:graphic>
      </p:graphicFrame>
      <p:sp>
        <p:nvSpPr>
          <p:cNvPr id="217" name="SMTP AUTHENTICATION…"/>
          <p:cNvSpPr txBox="1"/>
          <p:nvPr/>
        </p:nvSpPr>
        <p:spPr>
          <a:xfrm>
            <a:off x="2089474" y="1470617"/>
            <a:ext cx="3527893" cy="68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SMTP AUTHENTICATION</a:t>
            </a:r>
          </a:p>
          <a:p>
            <a:pPr>
              <a:defRPr>
                <a:latin typeface="Garamond"/>
                <a:ea typeface="Garamond"/>
                <a:cs typeface="Garamond"/>
                <a:sym typeface="Garamond"/>
              </a:defRPr>
            </a:pPr>
            <a:r>
              <a:t>Email authentication &amp;SMTP security </a:t>
            </a:r>
          </a:p>
        </p:txBody>
      </p:sp>
      <p:sp>
        <p:nvSpPr>
          <p:cNvPr id="218" name="MAGIC BYTES &amp; FILE VALIDATION…"/>
          <p:cNvSpPr txBox="1"/>
          <p:nvPr/>
        </p:nvSpPr>
        <p:spPr>
          <a:xfrm>
            <a:off x="7780613" y="1397469"/>
            <a:ext cx="4764956" cy="1018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MAGIC BYTES</a:t>
            </a:r>
            <a:r>
              <a:t> &amp; FILE VALIDATION</a:t>
            </a:r>
          </a:p>
          <a:p>
            <a:pPr>
              <a:defRPr>
                <a:latin typeface="Garamond"/>
                <a:ea typeface="Garamond"/>
                <a:cs typeface="Garamond"/>
                <a:sym typeface="Garamond"/>
              </a:defRPr>
            </a:pPr>
            <a:r>
              <a:t>File signature /upload validation</a:t>
            </a:r>
          </a:p>
        </p:txBody>
      </p:sp>
      <p:sp>
        <p:nvSpPr>
          <p:cNvPr id="219" name="SENTENCE TRANSFORMERS…"/>
          <p:cNvSpPr txBox="1"/>
          <p:nvPr/>
        </p:nvSpPr>
        <p:spPr>
          <a:xfrm>
            <a:off x="2092663" y="3046320"/>
            <a:ext cx="4019150" cy="68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rPr>
              <a:t>SENTENCE TRANSFORMERS</a:t>
            </a:r>
            <a:endParaRPr sz="1800">
              <a:latin typeface="Garamond"/>
              <a:ea typeface="Garamond"/>
              <a:cs typeface="Garamond"/>
              <a:sym typeface="Garamond"/>
            </a:endParaRPr>
          </a:p>
          <a:p>
            <a:pPr>
              <a:defRPr>
                <a:latin typeface="Garamond"/>
                <a:ea typeface="Garamond"/>
                <a:cs typeface="Garamond"/>
                <a:sym typeface="Garamond"/>
              </a:defRPr>
            </a:pPr>
            <a:r>
              <a:t>Semantic text similarity</a:t>
            </a:r>
          </a:p>
        </p:txBody>
      </p:sp>
      <p:sp>
        <p:nvSpPr>
          <p:cNvPr id="220" name="INFORMATION ENTROPY…"/>
          <p:cNvSpPr txBox="1"/>
          <p:nvPr/>
        </p:nvSpPr>
        <p:spPr>
          <a:xfrm>
            <a:off x="7754707" y="3084830"/>
            <a:ext cx="3588863" cy="68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 invalidUrl="" action="" tgtFrame="" tooltip="" history="1" highlightClick="0" endSnd="0"/>
              </a:rPr>
              <a:t>INFORMATION ENTROPY</a:t>
            </a:r>
          </a:p>
          <a:p>
            <a:pPr>
              <a:defRPr>
                <a:latin typeface="Garamond"/>
                <a:ea typeface="Garamond"/>
                <a:cs typeface="Garamond"/>
                <a:sym typeface="Garamond"/>
              </a:defRPr>
            </a:pPr>
            <a:r>
              <a:t>Entropy - based analysis</a:t>
            </a:r>
          </a:p>
        </p:txBody>
      </p:sp>
      <p:sp>
        <p:nvSpPr>
          <p:cNvPr id="221" name="LEVENSHTEIN DISTANCE…"/>
          <p:cNvSpPr txBox="1"/>
          <p:nvPr/>
        </p:nvSpPr>
        <p:spPr>
          <a:xfrm>
            <a:off x="2160678" y="4622022"/>
            <a:ext cx="3615739" cy="68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 invalidUrl="" action="" tgtFrame="" tooltip="" history="1" highlightClick="0" endSnd="0"/>
              </a:rPr>
              <a:t>LEVENSHTEIN DISTANCE</a:t>
            </a:r>
          </a:p>
          <a:p>
            <a:pPr>
              <a:defRPr>
                <a:latin typeface="Garamond"/>
                <a:ea typeface="Garamond"/>
                <a:cs typeface="Garamond"/>
                <a:sym typeface="Garamond"/>
              </a:defRPr>
            </a:pPr>
            <a:r>
              <a:t>String similarity /typo detection</a:t>
            </a:r>
          </a:p>
        </p:txBody>
      </p:sp>
      <p:sp>
        <p:nvSpPr>
          <p:cNvPr id="222" name="spaCy ENGLISH MODELS…"/>
          <p:cNvSpPr txBox="1"/>
          <p:nvPr/>
        </p:nvSpPr>
        <p:spPr>
          <a:xfrm>
            <a:off x="7812484" y="4622022"/>
            <a:ext cx="3473310" cy="68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8" invalidUrl="" action="" tgtFrame="" tooltip="" history="1" highlightClick="0" endSnd="0"/>
              </a:rPr>
              <a:t>spaCy ENGLISH MODELS</a:t>
            </a:r>
          </a:p>
          <a:p>
            <a:pPr>
              <a:defRPr>
                <a:latin typeface="Garamond"/>
                <a:ea typeface="Garamond"/>
                <a:cs typeface="Garamond"/>
                <a:sym typeface="Garamond"/>
              </a:defRPr>
            </a:pPr>
            <a:r>
              <a:t>NLP &amp; language processing</a:t>
            </a:r>
          </a:p>
        </p:txBody>
      </p:sp>
      <p:pic>
        <p:nvPicPr>
          <p:cNvPr id="223" name="Screenshot 2026-09-09 at 12.29.49 PM.png" descr="Screenshot 2026-09-09 at 12.29.49 PM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50457" y="1409501"/>
            <a:ext cx="1367266" cy="117867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Screenshot 2026-09-09 at 12.30.23 PM.png" descr="Screenshot 2026-09-09 at 12.30.23 PM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157565" y="1495157"/>
            <a:ext cx="1367266" cy="11513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Screenshot 2026-09-09 at 12.31.35 PM.png" descr="Screenshot 2026-09-09 at 12.31.35 PM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579207" y="2987427"/>
            <a:ext cx="1436767" cy="11513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Screenshot 2026-09-09 at 12.33.26 PM.png" descr="Screenshot 2026-09-09 at 12.33.26 PM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6189394" y="3031949"/>
            <a:ext cx="1430609" cy="1116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Screenshot 2026-09-09 at 12.35.49 PM.png" descr="Screenshot 2026-09-09 at 12.35.49 PM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577902" y="4538057"/>
            <a:ext cx="1363176" cy="10623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Screenshot 2026-09-09 at 12.37.48 PM.png" descr="Screenshot 2026-09-09 at 12.37.48 PM.png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6224857" y="4525417"/>
            <a:ext cx="1435883" cy="1116798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Key standards, protocols and source material"/>
          <p:cNvSpPr txBox="1"/>
          <p:nvPr/>
        </p:nvSpPr>
        <p:spPr>
          <a:xfrm>
            <a:off x="1398137" y="838836"/>
            <a:ext cx="2907348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Key standards, protocols and source material</a:t>
            </a:r>
          </a:p>
        </p:txBody>
      </p:sp>
      <p:sp>
        <p:nvSpPr>
          <p:cNvPr id="230" name="The Mentalists"/>
          <p:cNvSpPr txBox="1"/>
          <p:nvPr/>
        </p:nvSpPr>
        <p:spPr>
          <a:xfrm>
            <a:off x="365751" y="216311"/>
            <a:ext cx="1367266" cy="615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Mentalists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