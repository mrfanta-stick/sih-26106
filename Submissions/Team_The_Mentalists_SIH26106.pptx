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389680" y="4800600"/>
            <a:ext cx="7314840" cy="56628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Title Text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2389680" y="612720"/>
            <a:ext cx="73148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2389680" y="5367240"/>
            <a:ext cx="7314840" cy="80460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One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defTabSz="45720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Two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defTabSz="45720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Three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defTabSz="45720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Four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defTabSz="45720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Five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914400" y="2130480"/>
            <a:ext cx="10362960" cy="14695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Title Text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1828800" y="3886200"/>
            <a:ext cx="8534160" cy="17521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700"/>
              </a:spcBef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rgbClr val="888888"/>
                </a:solidFill>
                <a:effectLst/>
                <a:uFillTx/>
                <a:latin typeface="TradeGothic"/>
                <a:ea typeface="TradeGothic"/>
              </a:rPr>
              <a:t>Body Level One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algn="ctr" defTabSz="457200">
              <a:lnSpc>
                <a:spcPct val="100000"/>
              </a:lnSpc>
              <a:spcBef>
                <a:spcPts val="700"/>
              </a:spcBef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rgbClr val="888888"/>
                </a:solidFill>
                <a:effectLst/>
                <a:uFillTx/>
                <a:latin typeface="TradeGothic"/>
                <a:ea typeface="TradeGothic"/>
              </a:rPr>
              <a:t>Body Level Two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algn="ctr" defTabSz="457200">
              <a:lnSpc>
                <a:spcPct val="100000"/>
              </a:lnSpc>
              <a:spcBef>
                <a:spcPts val="700"/>
              </a:spcBef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rgbClr val="888888"/>
                </a:solidFill>
                <a:effectLst/>
                <a:uFillTx/>
                <a:latin typeface="TradeGothic"/>
                <a:ea typeface="TradeGothic"/>
              </a:rPr>
              <a:t>Body Level Three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algn="ctr" defTabSz="457200">
              <a:lnSpc>
                <a:spcPct val="100000"/>
              </a:lnSpc>
              <a:spcBef>
                <a:spcPts val="700"/>
              </a:spcBef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rgbClr val="888888"/>
                </a:solidFill>
                <a:effectLst/>
                <a:uFillTx/>
                <a:latin typeface="TradeGothic"/>
                <a:ea typeface="TradeGothic"/>
              </a:rPr>
              <a:t>Body Level Four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algn="ctr" defTabSz="457200">
              <a:lnSpc>
                <a:spcPct val="100000"/>
              </a:lnSpc>
              <a:spcBef>
                <a:spcPts val="700"/>
              </a:spcBef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rgbClr val="888888"/>
                </a:solidFill>
                <a:effectLst/>
                <a:uFillTx/>
                <a:latin typeface="TradeGothic"/>
                <a:ea typeface="TradeGothic"/>
              </a:rPr>
              <a:t>Body Level Five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2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Title Text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095480"/>
            <a:ext cx="10972440" cy="503028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One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783720" lvl="1" indent="-326520" defTabSz="457200">
              <a:lnSpc>
                <a:spcPct val="10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Two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1219320" lvl="2" indent="-304920" defTabSz="457200">
              <a:lnSpc>
                <a:spcPct val="10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Three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1737360" lvl="3" indent="-365760" defTabSz="457200">
              <a:lnSpc>
                <a:spcPct val="10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Four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2194560" lvl="4" indent="-365760" defTabSz="457200">
              <a:lnSpc>
                <a:spcPct val="10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»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Five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3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63000" y="4406760"/>
            <a:ext cx="10362960" cy="136188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Title Text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963000" y="2906640"/>
            <a:ext cx="10362960" cy="149976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888888"/>
                </a:solidFill>
                <a:effectLst/>
                <a:uFillTx/>
                <a:latin typeface="TradeGothic"/>
                <a:ea typeface="TradeGothic"/>
              </a:rPr>
              <a:t>Body Level One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888888"/>
                </a:solidFill>
                <a:effectLst/>
                <a:uFillTx/>
                <a:latin typeface="TradeGothic"/>
                <a:ea typeface="TradeGothic"/>
              </a:rPr>
              <a:t>Body Level Two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888888"/>
                </a:solidFill>
                <a:effectLst/>
                <a:uFillTx/>
                <a:latin typeface="TradeGothic"/>
                <a:ea typeface="TradeGothic"/>
              </a:rPr>
              <a:t>Body Level Three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888888"/>
                </a:solidFill>
                <a:effectLst/>
                <a:uFillTx/>
                <a:latin typeface="TradeGothic"/>
                <a:ea typeface="TradeGothic"/>
              </a:rPr>
              <a:t>Body Level Four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888888"/>
                </a:solidFill>
                <a:effectLst/>
                <a:uFillTx/>
                <a:latin typeface="TradeGothic"/>
                <a:ea typeface="TradeGothic"/>
              </a:rPr>
              <a:t>Body Level Five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4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Title Text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5384520" cy="452556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One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790560" lvl="1" indent="-333360" defTabSz="45720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Two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1234440" lvl="2" indent="-320040" defTabSz="45720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Three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1727280" lvl="3" indent="-355680" defTabSz="45720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Four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2184480" lvl="4" indent="-355680" defTabSz="45720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»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Five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sldNum" idx="5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Title Text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535040"/>
            <a:ext cx="5386680" cy="63936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One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defTabSz="457200">
              <a:lnSpc>
                <a:spcPct val="10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Two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defTabSz="457200">
              <a:lnSpc>
                <a:spcPct val="10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Three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defTabSz="457200">
              <a:lnSpc>
                <a:spcPct val="10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Four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indent="0" defTabSz="457200">
              <a:lnSpc>
                <a:spcPct val="10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Five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193440" y="1535040"/>
            <a:ext cx="5388840" cy="63936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b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6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Title Text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ldNum" idx="7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sldNum" idx="8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09480" y="272880"/>
            <a:ext cx="4010760" cy="11617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Title Text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766760" y="272880"/>
            <a:ext cx="6815160" cy="585288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One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783720" lvl="1" indent="-326520" defTabSz="457200">
              <a:lnSpc>
                <a:spcPct val="10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Two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1219320" lvl="2" indent="-304920" defTabSz="457200">
              <a:lnSpc>
                <a:spcPct val="10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Three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1737360" lvl="3" indent="-365760" defTabSz="457200">
              <a:lnSpc>
                <a:spcPct val="10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Four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2194560" lvl="4" indent="-365760" defTabSz="457200">
              <a:lnSpc>
                <a:spcPct val="100000"/>
              </a:lnSpc>
              <a:spcBef>
                <a:spcPts val="700"/>
              </a:spcBef>
              <a:buClr>
                <a:srgbClr val="000000"/>
              </a:buClr>
              <a:buFont typeface="Arial"/>
              <a:buChar char="»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  <a:ea typeface="TradeGothic"/>
              </a:rPr>
              <a:t>Body Level Five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609480" y="1434960"/>
            <a:ext cx="4010760" cy="469080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TradeGothic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TradeGothic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sldNum" idx="9"/>
          </p:nvPr>
        </p:nvSpPr>
        <p:spPr>
          <a:xfrm>
            <a:off x="11308680" y="6404400"/>
            <a:ext cx="2732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jpe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hyperlink" Target="https://en.wikipedia.org/wiki/SMTP_Authentication" TargetMode="External"/><Relationship Id="rId3" Type="http://schemas.openxmlformats.org/officeDocument/2006/relationships/hyperlink" Target="https://medium.com/@d.harish008/what-is-a-magic-byte-and-how-to-exploit-1e286da1c198" TargetMode="External"/><Relationship Id="rId4" Type="http://schemas.openxmlformats.org/officeDocument/2006/relationships/hyperlink" Target="https://sbert.net/" TargetMode="External"/><Relationship Id="rId5" Type="http://schemas.openxmlformats.org/officeDocument/2006/relationships/hyperlink" Target="https://en.wikipedia.org/wiki/Entropy_(information_theory)" TargetMode="External"/><Relationship Id="rId6" Type="http://schemas.openxmlformats.org/officeDocument/2006/relationships/hyperlink" Target="https://en.wikipedia.org/wiki/Levenshtein_distance" TargetMode="External"/><Relationship Id="rId7" Type="http://schemas.openxmlformats.org/officeDocument/2006/relationships/hyperlink" Target="https://spacy.io/models/en" TargetMode="External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3.jpeg"/><Relationship Id="rId15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4"/>
          <p:cNvSpPr/>
          <p:nvPr/>
        </p:nvSpPr>
        <p:spPr>
          <a:xfrm>
            <a:off x="1523880" y="0"/>
            <a:ext cx="9143640" cy="685764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30" name="Freeform: Shape 26"/>
          <p:cNvSpPr/>
          <p:nvPr/>
        </p:nvSpPr>
        <p:spPr>
          <a:xfrm>
            <a:off x="7526880" y="943560"/>
            <a:ext cx="4638240" cy="5154480"/>
          </a:xfrm>
          <a:custGeom>
            <a:avLst/>
            <a:gdLst>
              <a:gd name="textAreaLeft" fmla="*/ 0 w 4638240"/>
              <a:gd name="textAreaRight" fmla="*/ 4638600 w 4638240"/>
              <a:gd name="textAreaTop" fmla="*/ 0 h 5154480"/>
              <a:gd name="textAreaBottom" fmla="*/ 5154840 h 5154480"/>
              <a:gd name="GluePoint1X" fmla="logwidth/2"/>
              <a:gd name="GluePoint1Y" fmla="logheight/2"/>
              <a:gd name="GluePoint2X" fmla="logwidth/2"/>
              <a:gd name="GluePoint2Y" fmla="logheight/2"/>
              <a:gd name="GluePoint3X" fmla="logwidth/2"/>
              <a:gd name="GluePoint3Y" fmla="logheight/2"/>
              <a:gd name="GluePoint4X" fmla="logwidth/2"/>
              <a:gd name="GluePoint4Y" fmla="logheight/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21523" h="21600">
                <a:moveTo>
                  <a:pt x="1264" y="13095"/>
                </a:moveTo>
                <a:cubicBezTo>
                  <a:pt x="1264" y="13095"/>
                  <a:pt x="1264" y="13095"/>
                  <a:pt x="3126" y="13095"/>
                </a:cubicBezTo>
                <a:cubicBezTo>
                  <a:pt x="3243" y="13095"/>
                  <a:pt x="3355" y="13172"/>
                  <a:pt x="3412" y="13298"/>
                </a:cubicBezTo>
                <a:cubicBezTo>
                  <a:pt x="3412" y="13298"/>
                  <a:pt x="3412" y="13298"/>
                  <a:pt x="4345" y="15232"/>
                </a:cubicBezTo>
                <a:cubicBezTo>
                  <a:pt x="4405" y="15353"/>
                  <a:pt x="4405" y="15507"/>
                  <a:pt x="4345" y="15628"/>
                </a:cubicBezTo>
                <a:cubicBezTo>
                  <a:pt x="4345" y="15628"/>
                  <a:pt x="4345" y="15628"/>
                  <a:pt x="3412" y="17563"/>
                </a:cubicBezTo>
                <a:cubicBezTo>
                  <a:pt x="3355" y="17688"/>
                  <a:pt x="3243" y="17765"/>
                  <a:pt x="3126" y="17765"/>
                </a:cubicBezTo>
                <a:cubicBezTo>
                  <a:pt x="3126" y="17765"/>
                  <a:pt x="3126" y="17765"/>
                  <a:pt x="1264" y="17765"/>
                </a:cubicBezTo>
                <a:cubicBezTo>
                  <a:pt x="1143" y="17765"/>
                  <a:pt x="1035" y="17688"/>
                  <a:pt x="974" y="17563"/>
                </a:cubicBezTo>
                <a:cubicBezTo>
                  <a:pt x="974" y="17563"/>
                  <a:pt x="974" y="17563"/>
                  <a:pt x="45" y="15628"/>
                </a:cubicBezTo>
                <a:cubicBezTo>
                  <a:pt x="-15" y="15507"/>
                  <a:pt x="-15" y="15353"/>
                  <a:pt x="45" y="15232"/>
                </a:cubicBezTo>
                <a:cubicBezTo>
                  <a:pt x="45" y="15232"/>
                  <a:pt x="45" y="15232"/>
                  <a:pt x="974" y="13298"/>
                </a:cubicBezTo>
                <a:cubicBezTo>
                  <a:pt x="1035" y="13172"/>
                  <a:pt x="1143" y="13095"/>
                  <a:pt x="1264" y="13095"/>
                </a:cubicBezTo>
                <a:close/>
                <a:moveTo>
                  <a:pt x="8664" y="2389"/>
                </a:moveTo>
                <a:cubicBezTo>
                  <a:pt x="8664" y="2389"/>
                  <a:pt x="8664" y="2389"/>
                  <a:pt x="9622" y="2389"/>
                </a:cubicBezTo>
                <a:lnTo>
                  <a:pt x="9733" y="2389"/>
                </a:lnTo>
                <a:lnTo>
                  <a:pt x="9840" y="2610"/>
                </a:lnTo>
                <a:cubicBezTo>
                  <a:pt x="9988" y="2917"/>
                  <a:pt x="10161" y="3275"/>
                  <a:pt x="10362" y="3692"/>
                </a:cubicBezTo>
                <a:cubicBezTo>
                  <a:pt x="10454" y="3877"/>
                  <a:pt x="10454" y="4113"/>
                  <a:pt x="10362" y="4298"/>
                </a:cubicBezTo>
                <a:cubicBezTo>
                  <a:pt x="10362" y="4298"/>
                  <a:pt x="10362" y="4298"/>
                  <a:pt x="8933" y="7261"/>
                </a:cubicBezTo>
                <a:cubicBezTo>
                  <a:pt x="8847" y="7453"/>
                  <a:pt x="8674" y="7571"/>
                  <a:pt x="8496" y="7571"/>
                </a:cubicBezTo>
                <a:cubicBezTo>
                  <a:pt x="8496" y="7571"/>
                  <a:pt x="8496" y="7571"/>
                  <a:pt x="5644" y="7571"/>
                </a:cubicBezTo>
                <a:cubicBezTo>
                  <a:pt x="5598" y="7571"/>
                  <a:pt x="5553" y="7564"/>
                  <a:pt x="5510" y="7550"/>
                </a:cubicBezTo>
                <a:lnTo>
                  <a:pt x="5417" y="7503"/>
                </a:lnTo>
                <a:lnTo>
                  <a:pt x="5474" y="7386"/>
                </a:lnTo>
                <a:cubicBezTo>
                  <a:pt x="5984" y="6323"/>
                  <a:pt x="6637" y="4963"/>
                  <a:pt x="7473" y="3222"/>
                </a:cubicBezTo>
                <a:cubicBezTo>
                  <a:pt x="7721" y="2706"/>
                  <a:pt x="8168" y="2389"/>
                  <a:pt x="8664" y="2389"/>
                </a:cubicBezTo>
                <a:close/>
                <a:moveTo>
                  <a:pt x="5475" y="0"/>
                </a:moveTo>
                <a:cubicBezTo>
                  <a:pt x="5475" y="0"/>
                  <a:pt x="5475" y="0"/>
                  <a:pt x="8692" y="0"/>
                </a:cubicBezTo>
                <a:cubicBezTo>
                  <a:pt x="8893" y="0"/>
                  <a:pt x="9088" y="133"/>
                  <a:pt x="9185" y="350"/>
                </a:cubicBezTo>
                <a:cubicBezTo>
                  <a:pt x="9185" y="350"/>
                  <a:pt x="9185" y="350"/>
                  <a:pt x="10050" y="2143"/>
                </a:cubicBezTo>
                <a:lnTo>
                  <a:pt x="10147" y="2345"/>
                </a:lnTo>
                <a:lnTo>
                  <a:pt x="9707" y="2345"/>
                </a:lnTo>
                <a:lnTo>
                  <a:pt x="9550" y="2018"/>
                </a:lnTo>
                <a:cubicBezTo>
                  <a:pt x="8947" y="768"/>
                  <a:pt x="8947" y="768"/>
                  <a:pt x="8947" y="768"/>
                </a:cubicBezTo>
                <a:cubicBezTo>
                  <a:pt x="8860" y="576"/>
                  <a:pt x="8688" y="458"/>
                  <a:pt x="8509" y="458"/>
                </a:cubicBezTo>
                <a:cubicBezTo>
                  <a:pt x="5658" y="458"/>
                  <a:pt x="5658" y="458"/>
                  <a:pt x="5658" y="458"/>
                </a:cubicBezTo>
                <a:cubicBezTo>
                  <a:pt x="5473" y="458"/>
                  <a:pt x="5306" y="576"/>
                  <a:pt x="5214" y="768"/>
                </a:cubicBezTo>
                <a:cubicBezTo>
                  <a:pt x="3791" y="3731"/>
                  <a:pt x="3791" y="3731"/>
                  <a:pt x="3791" y="3731"/>
                </a:cubicBezTo>
                <a:cubicBezTo>
                  <a:pt x="3699" y="3916"/>
                  <a:pt x="3699" y="4152"/>
                  <a:pt x="3791" y="4337"/>
                </a:cubicBezTo>
                <a:cubicBezTo>
                  <a:pt x="5214" y="7300"/>
                  <a:pt x="5214" y="7300"/>
                  <a:pt x="5214" y="7300"/>
                </a:cubicBezTo>
                <a:cubicBezTo>
                  <a:pt x="5260" y="7396"/>
                  <a:pt x="5325" y="7474"/>
                  <a:pt x="5401" y="7527"/>
                </a:cubicBezTo>
                <a:lnTo>
                  <a:pt x="5423" y="7538"/>
                </a:lnTo>
                <a:lnTo>
                  <a:pt x="5307" y="7780"/>
                </a:lnTo>
                <a:lnTo>
                  <a:pt x="5220" y="7960"/>
                </a:lnTo>
                <a:lnTo>
                  <a:pt x="5310" y="8005"/>
                </a:lnTo>
                <a:cubicBezTo>
                  <a:pt x="5358" y="8021"/>
                  <a:pt x="5409" y="8029"/>
                  <a:pt x="5461" y="8029"/>
                </a:cubicBezTo>
                <a:cubicBezTo>
                  <a:pt x="8678" y="8029"/>
                  <a:pt x="8678" y="8029"/>
                  <a:pt x="8678" y="8029"/>
                </a:cubicBezTo>
                <a:cubicBezTo>
                  <a:pt x="8880" y="8029"/>
                  <a:pt x="9074" y="7896"/>
                  <a:pt x="9172" y="7679"/>
                </a:cubicBezTo>
                <a:cubicBezTo>
                  <a:pt x="10783" y="4337"/>
                  <a:pt x="10783" y="4337"/>
                  <a:pt x="10783" y="4337"/>
                </a:cubicBezTo>
                <a:cubicBezTo>
                  <a:pt x="10888" y="4128"/>
                  <a:pt x="10888" y="3862"/>
                  <a:pt x="10783" y="3653"/>
                </a:cubicBezTo>
                <a:cubicBezTo>
                  <a:pt x="10582" y="3235"/>
                  <a:pt x="10406" y="2870"/>
                  <a:pt x="10251" y="2550"/>
                </a:cubicBezTo>
                <a:lnTo>
                  <a:pt x="10173" y="2389"/>
                </a:lnTo>
                <a:lnTo>
                  <a:pt x="10534" y="2389"/>
                </a:lnTo>
                <a:cubicBezTo>
                  <a:pt x="11656" y="2389"/>
                  <a:pt x="13452" y="2389"/>
                  <a:pt x="16324" y="2389"/>
                </a:cubicBezTo>
                <a:cubicBezTo>
                  <a:pt x="16804" y="2389"/>
                  <a:pt x="17267" y="2706"/>
                  <a:pt x="17499" y="3222"/>
                </a:cubicBezTo>
                <a:cubicBezTo>
                  <a:pt x="17499" y="3222"/>
                  <a:pt x="17499" y="3222"/>
                  <a:pt x="21337" y="11181"/>
                </a:cubicBezTo>
                <a:cubicBezTo>
                  <a:pt x="21585" y="11677"/>
                  <a:pt x="21585" y="12312"/>
                  <a:pt x="21337" y="12808"/>
                </a:cubicBezTo>
                <a:cubicBezTo>
                  <a:pt x="21337" y="12808"/>
                  <a:pt x="21337" y="12808"/>
                  <a:pt x="17499" y="20766"/>
                </a:cubicBezTo>
                <a:cubicBezTo>
                  <a:pt x="17267" y="21282"/>
                  <a:pt x="16804" y="21600"/>
                  <a:pt x="16324" y="21600"/>
                </a:cubicBezTo>
                <a:cubicBezTo>
                  <a:pt x="16324" y="21600"/>
                  <a:pt x="16324" y="21600"/>
                  <a:pt x="8664" y="21600"/>
                </a:cubicBezTo>
                <a:cubicBezTo>
                  <a:pt x="8168" y="21600"/>
                  <a:pt x="7721" y="21282"/>
                  <a:pt x="7473" y="20766"/>
                </a:cubicBezTo>
                <a:cubicBezTo>
                  <a:pt x="7473" y="20766"/>
                  <a:pt x="7473" y="20766"/>
                  <a:pt x="3651" y="12808"/>
                </a:cubicBezTo>
                <a:cubicBezTo>
                  <a:pt x="3403" y="12312"/>
                  <a:pt x="3403" y="11677"/>
                  <a:pt x="3651" y="11181"/>
                </a:cubicBezTo>
                <a:cubicBezTo>
                  <a:pt x="3651" y="11181"/>
                  <a:pt x="3651" y="11181"/>
                  <a:pt x="5070" y="8226"/>
                </a:cubicBezTo>
                <a:lnTo>
                  <a:pt x="5190" y="7976"/>
                </a:lnTo>
                <a:lnTo>
                  <a:pt x="5186" y="7974"/>
                </a:lnTo>
                <a:cubicBezTo>
                  <a:pt x="5100" y="7914"/>
                  <a:pt x="5027" y="7826"/>
                  <a:pt x="4975" y="7718"/>
                </a:cubicBezTo>
                <a:cubicBezTo>
                  <a:pt x="4975" y="7718"/>
                  <a:pt x="4975" y="7718"/>
                  <a:pt x="3370" y="4376"/>
                </a:cubicBezTo>
                <a:cubicBezTo>
                  <a:pt x="3266" y="4167"/>
                  <a:pt x="3266" y="3901"/>
                  <a:pt x="3370" y="3692"/>
                </a:cubicBezTo>
                <a:cubicBezTo>
                  <a:pt x="3370" y="3692"/>
                  <a:pt x="3370" y="3692"/>
                  <a:pt x="4975" y="350"/>
                </a:cubicBezTo>
                <a:cubicBezTo>
                  <a:pt x="5079" y="133"/>
                  <a:pt x="5267" y="0"/>
                  <a:pt x="5475" y="0"/>
                </a:cubicBezTo>
                <a:close/>
              </a:path>
            </a:pathLst>
          </a:custGeom>
          <a:solidFill>
            <a:srgbClr val="808080">
              <a:alpha val="15000"/>
            </a:srgb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  <a:ea typeface="Calibri"/>
            </a:endParaRPr>
          </a:p>
        </p:txBody>
      </p:sp>
      <p:pic>
        <p:nvPicPr>
          <p:cNvPr id="31" name="Picture 4" descr="Picture 4"/>
          <p:cNvPicPr/>
          <p:nvPr/>
        </p:nvPicPr>
        <p:blipFill>
          <a:blip r:embed="rId1"/>
          <a:srcRect l="0" t="0" r="59916" b="0"/>
          <a:stretch/>
        </p:blipFill>
        <p:spPr>
          <a:xfrm>
            <a:off x="8662320" y="2233800"/>
            <a:ext cx="3203280" cy="3425760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158760" y="-505440"/>
            <a:ext cx="10362960" cy="20761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>
                <a:solidFill>
                  <a:srgbClr val="1f497d"/>
                </a:solidFill>
                <a:effectLst/>
                <a:uFillTx/>
                <a:latin typeface="Garamond"/>
                <a:ea typeface="Garamond"/>
              </a:rPr>
              <a:t>SMART INDIA HACKATHON 2026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Box 9"/>
          <p:cNvSpPr/>
          <p:nvPr/>
        </p:nvSpPr>
        <p:spPr>
          <a:xfrm>
            <a:off x="216000" y="870480"/>
            <a:ext cx="8031240" cy="4931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457200">
              <a:lnSpc>
                <a:spcPct val="2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Problem Statement ID – 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26106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457200">
              <a:lnSpc>
                <a:spcPct val="2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Problem Statement Title - 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AI-powered Email Threat Detection, Geolocation and Forensic Intelligence Platform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457200">
              <a:lnSpc>
                <a:spcPct val="2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Theme- 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Blockchain &amp; Cybersecurity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457200">
              <a:lnSpc>
                <a:spcPct val="2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PS Category -  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Software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457200">
              <a:lnSpc>
                <a:spcPct val="2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Team ID -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457200">
              <a:lnSpc>
                <a:spcPct val="2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Team Name (Registered on portal) - 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Mentalists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Picture 1" descr="Picture 1"/>
          <p:cNvPicPr/>
          <p:nvPr/>
        </p:nvPicPr>
        <p:blipFill>
          <a:blip r:embed="rId2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 w="127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ooter Placeholder 6"/>
          <p:cNvSpPr/>
          <p:nvPr/>
        </p:nvSpPr>
        <p:spPr>
          <a:xfrm>
            <a:off x="4694040" y="6404400"/>
            <a:ext cx="3112200" cy="2689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TradeGothic"/>
                <a:ea typeface="TradeGothic"/>
              </a:rPr>
              <a:t>@SIH Idea submission- Template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Rectangle 8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12700">
            <a:noFill/>
          </a:ln>
          <a:effectLst>
            <a:outerShdw algn="b" dir="5400000" dist="23040" kx="0" ky="0" rotWithShape="0" sx="100000" sy="10000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953735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309600" y="23040"/>
            <a:ext cx="10972440" cy="114264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IDEA :- Automated Email Forensics &amp; Threat Intelligence SOC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Platform 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ldNum" idx="10"/>
          </p:nvPr>
        </p:nvSpPr>
        <p:spPr>
          <a:xfrm>
            <a:off x="11393640" y="6404400"/>
            <a:ext cx="1886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1" u="none" strike="noStrike">
              <a:solidFill>
                <a:srgbClr val="ffffff"/>
              </a:solidFill>
              <a:effectLst/>
              <a:uFillTx/>
              <a:latin typeface="TradeGothic"/>
              <a:ea typeface="TradeGothic"/>
            </a:endParaRPr>
          </a:p>
        </p:txBody>
      </p:sp>
      <p:pic>
        <p:nvPicPr>
          <p:cNvPr id="39" name="Picture 10" descr="Picture 10"/>
          <p:cNvPicPr/>
          <p:nvPr/>
        </p:nvPicPr>
        <p:blipFill>
          <a:blip r:embed="rId1"/>
          <a:stretch/>
        </p:blipFill>
        <p:spPr>
          <a:xfrm>
            <a:off x="10307160" y="-7200"/>
            <a:ext cx="1768320" cy="834840"/>
          </a:xfrm>
          <a:prstGeom prst="rect">
            <a:avLst/>
          </a:prstGeom>
          <a:noFill/>
          <a:ln w="12700">
            <a:noFill/>
          </a:ln>
        </p:spPr>
      </p:pic>
      <p:grpSp>
        <p:nvGrpSpPr>
          <p:cNvPr id="40" name="THE PROBLEM…"/>
          <p:cNvGrpSpPr/>
          <p:nvPr/>
        </p:nvGrpSpPr>
        <p:grpSpPr>
          <a:xfrm>
            <a:off x="314640" y="1231200"/>
            <a:ext cx="3783960" cy="2531520"/>
            <a:chOff x="314640" y="1231200"/>
            <a:chExt cx="3783960" cy="2531520"/>
          </a:xfrm>
        </p:grpSpPr>
        <p:sp>
          <p:nvSpPr>
            <p:cNvPr id="41" name="Rectangle"/>
            <p:cNvSpPr/>
            <p:nvPr/>
          </p:nvSpPr>
          <p:spPr>
            <a:xfrm>
              <a:off x="314640" y="1231200"/>
              <a:ext cx="3783960" cy="253152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200" b="0" u="none" strike="noStrike">
                <a:solidFill>
                  <a:srgbClr val="050505"/>
                </a:solidFill>
                <a:effectLst/>
                <a:uFillTx/>
                <a:latin typeface="Aptos"/>
                <a:ea typeface="Aptos"/>
              </a:endParaRPr>
            </a:p>
          </p:txBody>
        </p:sp>
        <p:sp>
          <p:nvSpPr>
            <p:cNvPr id="42" name="THE PROBLEM…"/>
            <p:cNvSpPr/>
            <p:nvPr/>
          </p:nvSpPr>
          <p:spPr>
            <a:xfrm>
              <a:off x="327600" y="1371960"/>
              <a:ext cx="3758400" cy="225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800" b="0" u="none" strike="noStrike">
                  <a:solidFill>
                    <a:srgbClr val="ff9300"/>
                  </a:solidFill>
                  <a:effectLst/>
                  <a:uFillTx/>
                  <a:latin typeface="Times New Roman"/>
                  <a:ea typeface="Times New Roman"/>
                </a:rPr>
                <a:t>THE PROBLEM 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ts val="1800"/>
                </a:lnSpc>
                <a:tabLst>
                  <a:tab algn="l" pos="0"/>
                </a:tabLst>
              </a:pPr>
              <a:r>
                <a:rPr lang="en-US" sz="1100" b="0" u="none" strike="noStrike">
                  <a:solidFill>
                    <a:srgbClr val="010101"/>
                  </a:solidFill>
                  <a:effectLst/>
                  <a:uFillTx/>
                  <a:latin typeface="Inter"/>
                  <a:ea typeface="Inter"/>
                </a:rPr>
                <a:t>Modern cyber threats exploit email vectors through complex phishing, spoofed headers, and multi-hop relay obfuscation. Security Operations Center (SOC) analysts face critical bottlenecks:</a:t>
              </a:r>
              <a:endPara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200" b="0" u="none" strike="noStrike">
                  <a:solidFill>
                    <a:srgbClr val="050505"/>
                  </a:solidFill>
                  <a:effectLst/>
                  <a:uFillTx/>
                  <a:latin typeface="Aptos"/>
                  <a:ea typeface="Aptos"/>
                </a:rPr>
                <a:t>•  Manual .eml/.msg header analysis is slow and error-prone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200" b="0" u="none" strike="noStrike">
                  <a:solidFill>
                    <a:srgbClr val="050505"/>
                  </a:solidFill>
                  <a:effectLst/>
                  <a:uFillTx/>
                  <a:latin typeface="Aptos"/>
                  <a:ea typeface="Aptos"/>
                </a:rPr>
                <a:t>• Limited SMTP-hop and GeoIP visibility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200" b="0" u="none" strike="noStrike">
                  <a:solidFill>
                    <a:srgbClr val="050505"/>
                  </a:solidFill>
                  <a:effectLst/>
                  <a:uFillTx/>
                  <a:latin typeface="Aptos"/>
                  <a:ea typeface="Aptos"/>
                </a:rPr>
                <a:t>• No tamper-evident evidence ledger for legal use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3" name="PROPOSED SOLUTION…"/>
          <p:cNvGrpSpPr/>
          <p:nvPr/>
        </p:nvGrpSpPr>
        <p:grpSpPr>
          <a:xfrm>
            <a:off x="4509720" y="540360"/>
            <a:ext cx="3622680" cy="4599720"/>
            <a:chOff x="4509720" y="540360"/>
            <a:chExt cx="3622680" cy="4599720"/>
          </a:xfrm>
        </p:grpSpPr>
        <p:sp>
          <p:nvSpPr>
            <p:cNvPr id="44" name="Rectangle"/>
            <p:cNvSpPr/>
            <p:nvPr/>
          </p:nvSpPr>
          <p:spPr>
            <a:xfrm>
              <a:off x="4509720" y="1237320"/>
              <a:ext cx="3622680" cy="320616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600" b="1" u="none" strike="noStrike">
                <a:solidFill>
                  <a:srgbClr val="38bdf8"/>
                </a:solidFill>
                <a:effectLst/>
                <a:uFillTx/>
                <a:latin typeface="Space Grotesk"/>
                <a:ea typeface="Space Grotesk"/>
              </a:endParaRPr>
            </a:p>
          </p:txBody>
        </p:sp>
        <p:sp>
          <p:nvSpPr>
            <p:cNvPr id="45" name="An integrated, automated Email Forensics &amp; Threat Intelligence Platform that ingests raw email artifacts, extracts deep metadata, and generates court-admissible dossiers:…"/>
            <p:cNvSpPr/>
            <p:nvPr/>
          </p:nvSpPr>
          <p:spPr>
            <a:xfrm>
              <a:off x="4522320" y="540360"/>
              <a:ext cx="3597120" cy="459972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800" b="1" u="none" strike="noStrike">
                  <a:solidFill>
                    <a:srgbClr val="38bdf8"/>
                  </a:solidFill>
                  <a:effectLst/>
                  <a:uFillTx/>
                  <a:latin typeface="Times New Roman"/>
                  <a:ea typeface="Times New Roman"/>
                </a:rPr>
                <a:t> 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ts val="1800"/>
                </a:lnSpc>
                <a:tabLst>
                  <a:tab algn="l" pos="0"/>
                </a:tabLst>
              </a:pPr>
              <a:endPara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ts val="1800"/>
                </a:lnSpc>
                <a:tabLst>
                  <a:tab algn="l" pos="0"/>
                </a:tabLst>
              </a:pPr>
              <a:endPara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ts val="1800"/>
                </a:lnSpc>
                <a:tabLst>
                  <a:tab algn="l" pos="0"/>
                </a:tabLst>
              </a:pPr>
              <a:r>
                <a:rPr lang="en-US" sz="1100" b="0" u="none" strike="noStrike">
                  <a:solidFill>
                    <a:srgbClr val="060606"/>
                  </a:solidFill>
                  <a:effectLst/>
                  <a:uFillTx/>
                  <a:latin typeface="Inter"/>
                  <a:ea typeface="Inter"/>
                </a:rPr>
                <a:t>An integrated, automated Email Forensics &amp; Threat Intelligence Platform that ingests raw email artifacts, extracts deep metadata, and generates court-admissible dossiers:</a:t>
              </a:r>
              <a:endPara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ts val="1800"/>
                </a:lnSpc>
                <a:tabLst>
                  <a:tab algn="l" pos="0"/>
                </a:tabLst>
              </a:pPr>
              <a:r>
                <a:rPr lang="en-US" sz="1100" b="0" u="none" strike="noStrike">
                  <a:solidFill>
                    <a:srgbClr val="050505"/>
                  </a:solidFill>
                  <a:effectLst/>
                  <a:uFillTx/>
                  <a:latin typeface="Inter"/>
                  <a:ea typeface="Inter"/>
                </a:rPr>
                <a:t>•  </a:t>
              </a:r>
              <a:r>
                <a:rPr lang="en-US" sz="1100" b="0" u="none" strike="noStrike">
                  <a:solidFill>
                    <a:srgbClr val="060606"/>
                  </a:solidFill>
                  <a:effectLst/>
                  <a:uFillTx/>
                  <a:latin typeface="Inter"/>
                  <a:ea typeface="Inter"/>
                </a:rPr>
                <a:t>Automated header extraction and SPF / DKIM / DMARC authentication scoring.</a:t>
              </a:r>
              <a:endPara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ts val="1800"/>
                </a:lnSpc>
                <a:tabLst>
                  <a:tab algn="l" pos="0"/>
                </a:tabLst>
              </a:pPr>
              <a:r>
                <a:rPr lang="en-US" sz="1100" b="0" u="none" strike="noStrike">
                  <a:solidFill>
                    <a:srgbClr val="050505"/>
                  </a:solidFill>
                  <a:effectLst/>
                  <a:uFillTx/>
                  <a:latin typeface="Inter"/>
                  <a:ea typeface="Inter"/>
                </a:rPr>
                <a:t>•  </a:t>
              </a:r>
              <a:r>
                <a:rPr lang="en-US" sz="1100" b="0" u="none" strike="noStrike">
                  <a:solidFill>
                    <a:srgbClr val="060606"/>
                  </a:solidFill>
                  <a:effectLst/>
                  <a:uFillTx/>
                  <a:latin typeface="Inter"/>
                  <a:ea typeface="Inter"/>
                </a:rPr>
                <a:t>Interactive SMTP Routing Topology Graph and GeoIP map visualization.</a:t>
              </a:r>
              <a:endPara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ts val="1800"/>
                </a:lnSpc>
                <a:tabLst>
                  <a:tab algn="l" pos="0"/>
                </a:tabLst>
              </a:pPr>
              <a:r>
                <a:rPr lang="en-US" sz="1100" b="0" u="none" strike="noStrike">
                  <a:solidFill>
                    <a:srgbClr val="050505"/>
                  </a:solidFill>
                  <a:effectLst/>
                  <a:uFillTx/>
                  <a:latin typeface="Inter"/>
                  <a:ea typeface="Inter"/>
                </a:rPr>
                <a:t>•  </a:t>
              </a:r>
              <a:r>
                <a:rPr lang="en-US" sz="1100" b="0" u="none" strike="noStrike">
                  <a:solidFill>
                    <a:srgbClr val="030303"/>
                  </a:solidFill>
                  <a:effectLst/>
                  <a:uFillTx/>
                  <a:latin typeface="Inter"/>
                  <a:ea typeface="Inter"/>
                </a:rPr>
                <a:t>Cryptographic hash chaining to guarantee evidence integrity for court submission.</a:t>
              </a:r>
              <a:endPara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6" name="WHY IT IS DIFFERENT…"/>
          <p:cNvGrpSpPr/>
          <p:nvPr/>
        </p:nvGrpSpPr>
        <p:grpSpPr>
          <a:xfrm>
            <a:off x="8543520" y="390600"/>
            <a:ext cx="3485880" cy="4345560"/>
            <a:chOff x="8543520" y="390600"/>
            <a:chExt cx="3485880" cy="4345560"/>
          </a:xfrm>
        </p:grpSpPr>
        <p:sp>
          <p:nvSpPr>
            <p:cNvPr id="47" name="Rectangle"/>
            <p:cNvSpPr/>
            <p:nvPr/>
          </p:nvSpPr>
          <p:spPr>
            <a:xfrm>
              <a:off x="8543520" y="1297800"/>
              <a:ext cx="3485880" cy="253152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200" b="0" u="none" strike="noStrike">
                <a:solidFill>
                  <a:srgbClr val="070707"/>
                </a:solidFill>
                <a:effectLst/>
                <a:uFillTx/>
                <a:latin typeface="Aptos"/>
                <a:ea typeface="Aptos"/>
              </a:endParaRPr>
            </a:p>
          </p:txBody>
        </p:sp>
        <p:sp>
          <p:nvSpPr>
            <p:cNvPr id="48" name="SHA-256 hash-chained chain of custody…"/>
            <p:cNvSpPr/>
            <p:nvPr/>
          </p:nvSpPr>
          <p:spPr>
            <a:xfrm>
              <a:off x="8556120" y="390600"/>
              <a:ext cx="3460680" cy="434556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20240" indent="-120240" defTabSz="457200">
                <a:lnSpc>
                  <a:spcPct val="100000"/>
                </a:lnSpc>
                <a:buClr>
                  <a:srgbClr val="070707"/>
                </a:buClr>
                <a:buFont typeface="Symbol" charset="2"/>
                <a:buChar char=""/>
                <a:tabLst>
                  <a:tab algn="l" pos="0"/>
                </a:tabLst>
              </a:pPr>
              <a:r>
                <a:rPr lang="en-US" sz="1200" b="0" u="none" strike="noStrike">
                  <a:solidFill>
                    <a:srgbClr val="070707"/>
                  </a:solidFill>
                  <a:effectLst/>
                  <a:uFillTx/>
                  <a:latin typeface="Aptos"/>
                  <a:ea typeface="Aptos"/>
                </a:rPr>
                <a:t>SHA-256 hash-chained chain of custody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20240" indent="-120240" defTabSz="457200">
                <a:lnSpc>
                  <a:spcPct val="100000"/>
                </a:lnSpc>
                <a:buClr>
                  <a:srgbClr val="070707"/>
                </a:buClr>
                <a:buFont typeface="Symbol" charset="2"/>
                <a:buChar char=""/>
                <a:tabLst>
                  <a:tab algn="l" pos="0"/>
                </a:tabLst>
              </a:pPr>
              <a:r>
                <a:rPr lang="en-US" sz="1200" b="0" u="none" strike="noStrike">
                  <a:solidFill>
                    <a:srgbClr val="070707"/>
                  </a:solidFill>
                  <a:effectLst/>
                  <a:uFillTx/>
                  <a:latin typeface="Aptos"/>
                  <a:ea typeface="Aptos"/>
                </a:rPr>
                <a:t>NLP urgency + GeoIP intelligence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200" b="0" u="none" strike="noStrike">
                  <a:solidFill>
                    <a:srgbClr val="070707"/>
                  </a:solidFill>
                  <a:effectLst/>
                  <a:uFillTx/>
                  <a:latin typeface="Aptos"/>
                  <a:ea typeface="Aptos"/>
                </a:rPr>
                <a:t>• One-click standardized forensic PDF dossier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9" name="EMAIL"/>
          <p:cNvGrpSpPr/>
          <p:nvPr/>
        </p:nvGrpSpPr>
        <p:grpSpPr>
          <a:xfrm>
            <a:off x="314640" y="4763880"/>
            <a:ext cx="1400760" cy="477360"/>
            <a:chOff x="314640" y="4763880"/>
            <a:chExt cx="1400760" cy="477360"/>
          </a:xfrm>
        </p:grpSpPr>
        <p:sp>
          <p:nvSpPr>
            <p:cNvPr id="50" name="Rectangle"/>
            <p:cNvSpPr/>
            <p:nvPr/>
          </p:nvSpPr>
          <p:spPr>
            <a:xfrm>
              <a:off x="314640" y="4763880"/>
              <a:ext cx="1400760" cy="47736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endParaRPr>
            </a:p>
          </p:txBody>
        </p:sp>
        <p:sp>
          <p:nvSpPr>
            <p:cNvPr id="51" name="EMAIL"/>
            <p:cNvSpPr/>
            <p:nvPr/>
          </p:nvSpPr>
          <p:spPr>
            <a:xfrm>
              <a:off x="327600" y="4836240"/>
              <a:ext cx="1375200" cy="33264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Calibri"/>
                  <a:ea typeface="Calibri"/>
                </a:rPr>
                <a:t>     EMAIL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2" name="AUTH"/>
          <p:cNvGrpSpPr/>
          <p:nvPr/>
        </p:nvGrpSpPr>
        <p:grpSpPr>
          <a:xfrm>
            <a:off x="2583360" y="4763880"/>
            <a:ext cx="1400760" cy="477360"/>
            <a:chOff x="2583360" y="4763880"/>
            <a:chExt cx="1400760" cy="477360"/>
          </a:xfrm>
        </p:grpSpPr>
        <p:sp>
          <p:nvSpPr>
            <p:cNvPr id="53" name="Rectangle"/>
            <p:cNvSpPr/>
            <p:nvPr/>
          </p:nvSpPr>
          <p:spPr>
            <a:xfrm>
              <a:off x="2583360" y="4763880"/>
              <a:ext cx="1400760" cy="47736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endParaRPr>
            </a:p>
          </p:txBody>
        </p:sp>
        <p:sp>
          <p:nvSpPr>
            <p:cNvPr id="54" name="AUTH"/>
            <p:cNvSpPr/>
            <p:nvPr/>
          </p:nvSpPr>
          <p:spPr>
            <a:xfrm>
              <a:off x="2596320" y="4836240"/>
              <a:ext cx="1375200" cy="33264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Calibri"/>
                  <a:ea typeface="Calibri"/>
                </a:rPr>
                <a:t>      AUTH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5" name="NLP"/>
          <p:cNvGrpSpPr/>
          <p:nvPr/>
        </p:nvGrpSpPr>
        <p:grpSpPr>
          <a:xfrm>
            <a:off x="4586760" y="4764600"/>
            <a:ext cx="1400760" cy="477360"/>
            <a:chOff x="4586760" y="4764600"/>
            <a:chExt cx="1400760" cy="477360"/>
          </a:xfrm>
        </p:grpSpPr>
        <p:sp>
          <p:nvSpPr>
            <p:cNvPr id="56" name="Rectangle"/>
            <p:cNvSpPr/>
            <p:nvPr/>
          </p:nvSpPr>
          <p:spPr>
            <a:xfrm>
              <a:off x="4586760" y="4764600"/>
              <a:ext cx="1400760" cy="47736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endParaRPr>
            </a:p>
          </p:txBody>
        </p:sp>
        <p:sp>
          <p:nvSpPr>
            <p:cNvPr id="57" name="NLP"/>
            <p:cNvSpPr/>
            <p:nvPr/>
          </p:nvSpPr>
          <p:spPr>
            <a:xfrm>
              <a:off x="4599720" y="4836960"/>
              <a:ext cx="1375200" cy="33264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Calibri"/>
                  <a:ea typeface="Calibri"/>
                </a:rPr>
                <a:t>        NLP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8" name="ROUTING"/>
          <p:cNvGrpSpPr/>
          <p:nvPr/>
        </p:nvGrpSpPr>
        <p:grpSpPr>
          <a:xfrm>
            <a:off x="6577560" y="4776480"/>
            <a:ext cx="1400760" cy="477360"/>
            <a:chOff x="6577560" y="4776480"/>
            <a:chExt cx="1400760" cy="477360"/>
          </a:xfrm>
        </p:grpSpPr>
        <p:sp>
          <p:nvSpPr>
            <p:cNvPr id="59" name="Rectangle"/>
            <p:cNvSpPr/>
            <p:nvPr/>
          </p:nvSpPr>
          <p:spPr>
            <a:xfrm>
              <a:off x="6577560" y="4776480"/>
              <a:ext cx="1400760" cy="47736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endParaRPr>
            </a:p>
          </p:txBody>
        </p:sp>
        <p:sp>
          <p:nvSpPr>
            <p:cNvPr id="60" name="ROUTING"/>
            <p:cNvSpPr/>
            <p:nvPr/>
          </p:nvSpPr>
          <p:spPr>
            <a:xfrm>
              <a:off x="6590160" y="4848840"/>
              <a:ext cx="1375200" cy="33264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Calibri"/>
                  <a:ea typeface="Calibri"/>
                </a:rPr>
                <a:t>   ROUTING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EOIP"/>
          <p:cNvGrpSpPr/>
          <p:nvPr/>
        </p:nvGrpSpPr>
        <p:grpSpPr>
          <a:xfrm>
            <a:off x="8593560" y="4763880"/>
            <a:ext cx="1400760" cy="477360"/>
            <a:chOff x="8593560" y="4763880"/>
            <a:chExt cx="1400760" cy="477360"/>
          </a:xfrm>
        </p:grpSpPr>
        <p:sp>
          <p:nvSpPr>
            <p:cNvPr id="62" name="Rectangle"/>
            <p:cNvSpPr/>
            <p:nvPr/>
          </p:nvSpPr>
          <p:spPr>
            <a:xfrm>
              <a:off x="8593560" y="4763880"/>
              <a:ext cx="1400760" cy="47736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endParaRPr>
            </a:p>
          </p:txBody>
        </p:sp>
        <p:sp>
          <p:nvSpPr>
            <p:cNvPr id="63" name="GEOIP"/>
            <p:cNvSpPr/>
            <p:nvPr/>
          </p:nvSpPr>
          <p:spPr>
            <a:xfrm>
              <a:off x="8606520" y="4836240"/>
              <a:ext cx="1375200" cy="33264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Calibri"/>
                  <a:ea typeface="Calibri"/>
                </a:rPr>
                <a:t>      GEOIP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DOSSIER"/>
          <p:cNvGrpSpPr/>
          <p:nvPr/>
        </p:nvGrpSpPr>
        <p:grpSpPr>
          <a:xfrm>
            <a:off x="10626480" y="4763880"/>
            <a:ext cx="1400760" cy="477360"/>
            <a:chOff x="10626480" y="4763880"/>
            <a:chExt cx="1400760" cy="477360"/>
          </a:xfrm>
        </p:grpSpPr>
        <p:sp>
          <p:nvSpPr>
            <p:cNvPr id="65" name="Rectangle"/>
            <p:cNvSpPr/>
            <p:nvPr/>
          </p:nvSpPr>
          <p:spPr>
            <a:xfrm>
              <a:off x="10626480" y="4763880"/>
              <a:ext cx="1400760" cy="47736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endParaRPr>
            </a:p>
          </p:txBody>
        </p:sp>
        <p:sp>
          <p:nvSpPr>
            <p:cNvPr id="66" name="DOSSIER"/>
            <p:cNvSpPr/>
            <p:nvPr/>
          </p:nvSpPr>
          <p:spPr>
            <a:xfrm>
              <a:off x="10639440" y="4836240"/>
              <a:ext cx="1375200" cy="33264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Calibri"/>
                  <a:ea typeface="Calibri"/>
                </a:rPr>
                <a:t>DOSSIER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Line"/>
          <p:cNvSpPr/>
          <p:nvPr/>
        </p:nvSpPr>
        <p:spPr>
          <a:xfrm>
            <a:off x="1820520" y="5002560"/>
            <a:ext cx="658080" cy="0"/>
          </a:xfrm>
          <a:prstGeom prst="line">
            <a:avLst/>
          </a:prstGeom>
          <a:ln w="25400">
            <a:solidFill>
              <a:srgbClr val="4f81b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rIns="45720" t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8" name="Line"/>
          <p:cNvSpPr/>
          <p:nvPr/>
        </p:nvSpPr>
        <p:spPr>
          <a:xfrm>
            <a:off x="4089240" y="5002560"/>
            <a:ext cx="422280" cy="0"/>
          </a:xfrm>
          <a:prstGeom prst="line">
            <a:avLst/>
          </a:prstGeom>
          <a:ln w="25400">
            <a:solidFill>
              <a:srgbClr val="4f81b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rIns="45720" t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9" name="Line"/>
          <p:cNvSpPr/>
          <p:nvPr/>
        </p:nvSpPr>
        <p:spPr>
          <a:xfrm>
            <a:off x="6077880" y="5002560"/>
            <a:ext cx="422280" cy="0"/>
          </a:xfrm>
          <a:prstGeom prst="line">
            <a:avLst/>
          </a:prstGeom>
          <a:ln w="25400">
            <a:solidFill>
              <a:srgbClr val="4f81b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rIns="45720" t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0" name="Line"/>
          <p:cNvSpPr/>
          <p:nvPr/>
        </p:nvSpPr>
        <p:spPr>
          <a:xfrm>
            <a:off x="8096040" y="5002560"/>
            <a:ext cx="422280" cy="0"/>
          </a:xfrm>
          <a:prstGeom prst="line">
            <a:avLst/>
          </a:prstGeom>
          <a:ln w="25400">
            <a:solidFill>
              <a:srgbClr val="4f81b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rIns="45720" t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1" name="Line"/>
          <p:cNvSpPr/>
          <p:nvPr/>
        </p:nvSpPr>
        <p:spPr>
          <a:xfrm>
            <a:off x="10114200" y="5002560"/>
            <a:ext cx="422280" cy="0"/>
          </a:xfrm>
          <a:prstGeom prst="line">
            <a:avLst/>
          </a:prstGeom>
          <a:ln w="25400">
            <a:solidFill>
              <a:srgbClr val="4f81bd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rIns="45720" t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2" name="Automated evidence journey — from raw email artifact to verifiable forensic output"/>
          <p:cNvSpPr/>
          <p:nvPr/>
        </p:nvSpPr>
        <p:spPr>
          <a:xfrm>
            <a:off x="3325320" y="5438520"/>
            <a:ext cx="5174280" cy="2563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ptos"/>
              </a:rPr>
              <a:t>Automated evidence journey — from raw email artifact to verifiable forensic output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roblem fit • proposed solution• innovation"/>
          <p:cNvSpPr/>
          <p:nvPr/>
        </p:nvSpPr>
        <p:spPr>
          <a:xfrm>
            <a:off x="375120" y="868680"/>
            <a:ext cx="2725560" cy="2563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ptos"/>
              </a:rPr>
              <a:t>Problem fit • proposed solution• innovation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ROPOSED SOLUTION"/>
          <p:cNvSpPr/>
          <p:nvPr/>
        </p:nvSpPr>
        <p:spPr>
          <a:xfrm>
            <a:off x="4647600" y="1309320"/>
            <a:ext cx="2529720" cy="3481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433ff"/>
                </a:solidFill>
                <a:effectLst/>
                <a:uFillTx/>
                <a:latin typeface="Times New Roman"/>
                <a:ea typeface="Times New Roman"/>
              </a:rPr>
              <a:t>PROPOSED SOLUTION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WHY IT IS DIFFERENT"/>
          <p:cNvSpPr/>
          <p:nvPr/>
        </p:nvSpPr>
        <p:spPr>
          <a:xfrm>
            <a:off x="8657640" y="1313640"/>
            <a:ext cx="2512440" cy="3481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f900"/>
                </a:solidFill>
                <a:effectLst/>
                <a:uFillTx/>
                <a:latin typeface="Times New Roman"/>
                <a:ea typeface="Times New Roman"/>
              </a:rPr>
              <a:t>WHY IT IS DIFFERENT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he…"/>
          <p:cNvSpPr/>
          <p:nvPr/>
        </p:nvSpPr>
        <p:spPr>
          <a:xfrm>
            <a:off x="239040" y="140400"/>
            <a:ext cx="1056240" cy="5396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Mentalists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"/>
          <p:cNvPicPr/>
          <p:nvPr/>
        </p:nvPicPr>
        <p:blipFill>
          <a:blip r:embed="rId2"/>
          <a:stretch/>
        </p:blipFill>
        <p:spPr>
          <a:xfrm>
            <a:off x="76320" y="23040"/>
            <a:ext cx="1218960" cy="680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Footer Placeholder 6"/>
          <p:cNvSpPr/>
          <p:nvPr/>
        </p:nvSpPr>
        <p:spPr>
          <a:xfrm>
            <a:off x="4694040" y="6404400"/>
            <a:ext cx="3112200" cy="2689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TradeGothic"/>
                <a:ea typeface="TradeGothic"/>
              </a:rPr>
              <a:t>@SIH Idea submission- Template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9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12700">
            <a:noFill/>
          </a:ln>
          <a:effectLst>
            <a:outerShdw algn="b" dir="5400000" dist="23040" kx="0" ky="0" rotWithShape="0" sx="100000" sy="10000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953735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5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TECHNICAL APPROACH</a:t>
            </a:r>
            <a:endParaRPr lang="en-US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ldNum" idx="11"/>
          </p:nvPr>
        </p:nvSpPr>
        <p:spPr>
          <a:xfrm>
            <a:off x="11393640" y="6404400"/>
            <a:ext cx="1886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1" u="none" strike="noStrike">
              <a:solidFill>
                <a:srgbClr val="ffffff"/>
              </a:solidFill>
              <a:effectLst/>
              <a:uFillTx/>
              <a:latin typeface="TradeGothic"/>
              <a:ea typeface="TradeGothic"/>
            </a:endParaRPr>
          </a:p>
        </p:txBody>
      </p:sp>
      <p:pic>
        <p:nvPicPr>
          <p:cNvPr id="82" name="Picture 11" descr="Picture 11"/>
          <p:cNvPicPr/>
          <p:nvPr/>
        </p:nvPicPr>
        <p:blipFill>
          <a:blip r:embed="rId1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83" name="Architecture + implementation pipeline"/>
          <p:cNvSpPr/>
          <p:nvPr/>
        </p:nvSpPr>
        <p:spPr>
          <a:xfrm>
            <a:off x="137880" y="774720"/>
            <a:ext cx="2476080" cy="2563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ptos"/>
              </a:rPr>
              <a:t>Architecture + implementation pipeline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Next.js + TypeScript + Tailwind  •  SOC Dashboard  •  React Flow topology  •  Leaflet GeoIP map"/>
          <p:cNvGrpSpPr/>
          <p:nvPr/>
        </p:nvGrpSpPr>
        <p:grpSpPr>
          <a:xfrm>
            <a:off x="443520" y="1121040"/>
            <a:ext cx="10946880" cy="647640"/>
            <a:chOff x="443520" y="1121040"/>
            <a:chExt cx="10946880" cy="647640"/>
          </a:xfrm>
        </p:grpSpPr>
        <p:sp>
          <p:nvSpPr>
            <p:cNvPr id="85" name="Rounded Rectangle"/>
            <p:cNvSpPr/>
            <p:nvPr/>
          </p:nvSpPr>
          <p:spPr>
            <a:xfrm>
              <a:off x="443520" y="1121040"/>
              <a:ext cx="10946880" cy="647640"/>
            </a:xfrm>
            <a:prstGeom prst="roundRect">
              <a:avLst>
                <a:gd name="adj" fmla="val 29395"/>
              </a:avLst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1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ptos"/>
              </a:endParaRPr>
            </a:p>
          </p:txBody>
        </p:sp>
        <p:sp>
          <p:nvSpPr>
            <p:cNvPr id="86" name="Next.js + TypeScript + Tailwind  •  SOC Dashboard  •  React Flow topology  •  Leaflet GeoIP map"/>
            <p:cNvSpPr/>
            <p:nvPr/>
          </p:nvSpPr>
          <p:spPr>
            <a:xfrm>
              <a:off x="512280" y="1234440"/>
              <a:ext cx="10810080" cy="4212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100" b="0" u="none" strike="noStrike">
                  <a:solidFill>
                    <a:srgbClr val="000000"/>
                  </a:solidFill>
                  <a:effectLst/>
                  <a:uFillTx/>
                  <a:latin typeface="Aptos"/>
                  <a:ea typeface="Aptos"/>
                </a:rPr>
                <a:t>            Next.js + TypeScript + Tailwind  •  SOC Dashboard  •  React Flow topology  •  Leaflet GeoIP map</a:t>
              </a:r>
              <a:endPara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FRONTEND"/>
          <p:cNvSpPr/>
          <p:nvPr/>
        </p:nvSpPr>
        <p:spPr>
          <a:xfrm>
            <a:off x="865440" y="1152000"/>
            <a:ext cx="1020960" cy="2941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42aae6"/>
                </a:solidFill>
                <a:effectLst/>
                <a:uFillTx/>
                <a:latin typeface="Aptos"/>
                <a:ea typeface="Aptos"/>
              </a:rPr>
              <a:t>FRONTEND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"/>
          <p:cNvSpPr/>
          <p:nvPr/>
        </p:nvSpPr>
        <p:spPr>
          <a:xfrm>
            <a:off x="443520" y="2218320"/>
            <a:ext cx="10946880" cy="647640"/>
          </a:xfrm>
          <a:prstGeom prst="roundRect">
            <a:avLst>
              <a:gd name="adj" fmla="val 29395"/>
            </a:avLst>
          </a:prstGeom>
          <a:solidFill>
            <a:srgbClr val="ffffff"/>
          </a:solidFill>
          <a:ln w="25400">
            <a:solidFill>
              <a:srgbClr val="4f81bd"/>
            </a:solidFill>
            <a:round/>
          </a:ln>
          <a:effectLst>
            <a:outerShdw algn="b" blurRad="38160" dir="5400000" dist="2304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89" name="Rounded Rectangle"/>
          <p:cNvSpPr/>
          <p:nvPr/>
        </p:nvSpPr>
        <p:spPr>
          <a:xfrm>
            <a:off x="443520" y="3374640"/>
            <a:ext cx="10946880" cy="647640"/>
          </a:xfrm>
          <a:custGeom>
            <a:avLst/>
            <a:gdLst>
              <a:gd name="textAreaLeft" fmla="*/ 0 w 10946880"/>
              <a:gd name="textAreaRight" fmla="*/ 10947240 w 10946880"/>
              <a:gd name="textAreaTop" fmla="*/ 0 h 647640"/>
              <a:gd name="textAreaBottom" fmla="*/ 648000 h 647640"/>
              <a:gd name="GluePoint1X" fmla="logwidth/2"/>
              <a:gd name="GluePoint1Y" fmla="logheight/2"/>
              <a:gd name="GluePoint2X" fmla="logwidth/2"/>
              <a:gd name="GluePoint2Y" fmla="logheight/2"/>
              <a:gd name="GluePoint3X" fmla="logwidth/2"/>
              <a:gd name="GluePoint3Y" fmla="logheight/2"/>
              <a:gd name="GluePoint4X" fmla="logwidth/2"/>
              <a:gd name="GluePoint4Y" fmla="logheight/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21600" h="21600">
                <a:moveTo>
                  <a:pt x="575" y="21600"/>
                </a:moveTo>
                <a:lnTo>
                  <a:pt x="21025" y="21600"/>
                </a:lnTo>
                <a:cubicBezTo>
                  <a:pt x="21194" y="21600"/>
                  <a:pt x="21295" y="21600"/>
                  <a:pt x="21363" y="21124"/>
                </a:cubicBezTo>
                <a:cubicBezTo>
                  <a:pt x="21460" y="20527"/>
                  <a:pt x="21536" y="19233"/>
                  <a:pt x="21572" y="17590"/>
                </a:cubicBezTo>
                <a:cubicBezTo>
                  <a:pt x="21600" y="16451"/>
                  <a:pt x="21600" y="14742"/>
                  <a:pt x="21600" y="11894"/>
                </a:cubicBezTo>
                <a:lnTo>
                  <a:pt x="21600" y="9706"/>
                </a:lnTo>
                <a:cubicBezTo>
                  <a:pt x="21600" y="6858"/>
                  <a:pt x="21600" y="5149"/>
                  <a:pt x="21572" y="4010"/>
                </a:cubicBezTo>
                <a:cubicBezTo>
                  <a:pt x="21536" y="2367"/>
                  <a:pt x="21460" y="1073"/>
                  <a:pt x="21363" y="476"/>
                </a:cubicBezTo>
                <a:cubicBezTo>
                  <a:pt x="21295" y="0"/>
                  <a:pt x="21194" y="0"/>
                  <a:pt x="21025" y="0"/>
                </a:cubicBezTo>
                <a:lnTo>
                  <a:pt x="575" y="0"/>
                </a:lnTo>
                <a:cubicBezTo>
                  <a:pt x="406" y="0"/>
                  <a:pt x="305" y="0"/>
                  <a:pt x="237" y="476"/>
                </a:cubicBezTo>
                <a:cubicBezTo>
                  <a:pt x="140" y="1073"/>
                  <a:pt x="64" y="2367"/>
                  <a:pt x="28" y="4010"/>
                </a:cubicBezTo>
                <a:cubicBezTo>
                  <a:pt x="0" y="5149"/>
                  <a:pt x="0" y="6858"/>
                  <a:pt x="0" y="9706"/>
                </a:cubicBezTo>
                <a:lnTo>
                  <a:pt x="0" y="11894"/>
                </a:lnTo>
                <a:cubicBezTo>
                  <a:pt x="0" y="14742"/>
                  <a:pt x="0" y="16451"/>
                  <a:pt x="28" y="17590"/>
                </a:cubicBezTo>
                <a:cubicBezTo>
                  <a:pt x="64" y="19233"/>
                  <a:pt x="140" y="20527"/>
                  <a:pt x="237" y="21124"/>
                </a:cubicBezTo>
                <a:cubicBezTo>
                  <a:pt x="305" y="21600"/>
                  <a:pt x="406" y="21600"/>
                  <a:pt x="575" y="21600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  <a:round/>
          </a:ln>
          <a:effectLst>
            <a:outerShdw algn="b" blurRad="38160" dir="5400000" dist="2304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90" name="BACKEND"/>
          <p:cNvSpPr/>
          <p:nvPr/>
        </p:nvSpPr>
        <p:spPr>
          <a:xfrm>
            <a:off x="911160" y="2282760"/>
            <a:ext cx="929160" cy="2941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54c38f"/>
                </a:solidFill>
                <a:effectLst/>
                <a:uFillTx/>
                <a:latin typeface="Aptos"/>
                <a:ea typeface="Aptos"/>
              </a:rPr>
              <a:t>BACKEND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FastAPI + Python  •  Email Parser  •  SPF/DKIM/DMARC verification  •  NLP urgency scoring  •  Threat scoring"/>
          <p:cNvSpPr/>
          <p:nvPr/>
        </p:nvSpPr>
        <p:spPr>
          <a:xfrm>
            <a:off x="982440" y="2573280"/>
            <a:ext cx="8092440" cy="2563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ptos"/>
              </a:rPr>
              <a:t>FastAPI + Python  •  Email Parser  •  SPF/DKIM/DMARC verification  •  NLP urgency scoring  •  Threat scoring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EVIDENCE &amp; INTELLIGENCE"/>
          <p:cNvSpPr/>
          <p:nvPr/>
        </p:nvSpPr>
        <p:spPr>
          <a:xfrm>
            <a:off x="945000" y="3413160"/>
            <a:ext cx="2369520" cy="2941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4b14b"/>
                </a:solidFill>
                <a:effectLst/>
                <a:uFillTx/>
                <a:latin typeface="Aptos"/>
                <a:ea typeface="Aptos"/>
              </a:rPr>
              <a:t>EVIDENCE &amp; INTELLIGENCE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Email metadata  •  SMTP hop data  •  GeoIP intelligence  •  SHA-256 audit ledger  •  Court-ready PDF dossier"/>
          <p:cNvSpPr/>
          <p:nvPr/>
        </p:nvSpPr>
        <p:spPr>
          <a:xfrm>
            <a:off x="1008360" y="3696840"/>
            <a:ext cx="6871320" cy="2563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ptos"/>
              </a:rPr>
              <a:t>Email metadata  •  SMTP hop data  •  GeoIP intelligence  •  SHA-256 audit ledger  •  Court-ready PDF dossier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Line"/>
          <p:cNvSpPr/>
          <p:nvPr/>
        </p:nvSpPr>
        <p:spPr>
          <a:xfrm flipV="1">
            <a:off x="5645160" y="2907000"/>
            <a:ext cx="0" cy="428400"/>
          </a:xfrm>
          <a:prstGeom prst="line">
            <a:avLst/>
          </a:prstGeom>
          <a:ln w="254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5" name="Line"/>
          <p:cNvSpPr/>
          <p:nvPr/>
        </p:nvSpPr>
        <p:spPr>
          <a:xfrm flipV="1">
            <a:off x="5645160" y="1794600"/>
            <a:ext cx="0" cy="428400"/>
          </a:xfrm>
          <a:prstGeom prst="line">
            <a:avLst/>
          </a:prstGeom>
          <a:ln w="254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6" name="Implementation Process &amp; Pipeline :-"/>
          <p:cNvSpPr/>
          <p:nvPr/>
        </p:nvSpPr>
        <p:spPr>
          <a:xfrm>
            <a:off x="208440" y="4068360"/>
            <a:ext cx="5256360" cy="4330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Implementation Process &amp; Pipeline :- 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7" name="01"/>
          <p:cNvGrpSpPr/>
          <p:nvPr/>
        </p:nvGrpSpPr>
        <p:grpSpPr>
          <a:xfrm>
            <a:off x="1393920" y="4648320"/>
            <a:ext cx="675360" cy="562680"/>
            <a:chOff x="1393920" y="4648320"/>
            <a:chExt cx="675360" cy="562680"/>
          </a:xfrm>
        </p:grpSpPr>
        <p:sp>
          <p:nvSpPr>
            <p:cNvPr id="98" name="Oval"/>
            <p:cNvSpPr/>
            <p:nvPr/>
          </p:nvSpPr>
          <p:spPr>
            <a:xfrm>
              <a:off x="1393920" y="4648320"/>
              <a:ext cx="675360" cy="562680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 Black"/>
                <a:ea typeface="Arial Black"/>
              </a:endParaRPr>
            </a:p>
          </p:txBody>
        </p:sp>
        <p:sp>
          <p:nvSpPr>
            <p:cNvPr id="99" name="01"/>
            <p:cNvSpPr/>
            <p:nvPr/>
          </p:nvSpPr>
          <p:spPr>
            <a:xfrm>
              <a:off x="1505520" y="4718880"/>
              <a:ext cx="452160" cy="4212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Arial Black"/>
                  <a:ea typeface="Arial Black"/>
                </a:rPr>
                <a:t>01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00" name="02"/>
          <p:cNvGrpSpPr/>
          <p:nvPr/>
        </p:nvGrpSpPr>
        <p:grpSpPr>
          <a:xfrm>
            <a:off x="4284720" y="4635360"/>
            <a:ext cx="675360" cy="562680"/>
            <a:chOff x="4284720" y="4635360"/>
            <a:chExt cx="675360" cy="562680"/>
          </a:xfrm>
        </p:grpSpPr>
        <p:sp>
          <p:nvSpPr>
            <p:cNvPr id="101" name="Oval"/>
            <p:cNvSpPr/>
            <p:nvPr/>
          </p:nvSpPr>
          <p:spPr>
            <a:xfrm>
              <a:off x="4284720" y="4635360"/>
              <a:ext cx="675360" cy="562680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 Black"/>
                <a:ea typeface="Arial Black"/>
              </a:endParaRPr>
            </a:p>
          </p:txBody>
        </p:sp>
        <p:sp>
          <p:nvSpPr>
            <p:cNvPr id="102" name="02"/>
            <p:cNvSpPr/>
            <p:nvPr/>
          </p:nvSpPr>
          <p:spPr>
            <a:xfrm>
              <a:off x="4396320" y="4706280"/>
              <a:ext cx="452160" cy="4212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Arial Black"/>
                  <a:ea typeface="Arial Black"/>
                </a:rPr>
                <a:t>02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03" name="03"/>
          <p:cNvGrpSpPr/>
          <p:nvPr/>
        </p:nvGrpSpPr>
        <p:grpSpPr>
          <a:xfrm>
            <a:off x="6968520" y="4673520"/>
            <a:ext cx="675360" cy="562680"/>
            <a:chOff x="6968520" y="4673520"/>
            <a:chExt cx="675360" cy="562680"/>
          </a:xfrm>
        </p:grpSpPr>
        <p:sp>
          <p:nvSpPr>
            <p:cNvPr id="104" name="Oval"/>
            <p:cNvSpPr/>
            <p:nvPr/>
          </p:nvSpPr>
          <p:spPr>
            <a:xfrm>
              <a:off x="6968520" y="4673520"/>
              <a:ext cx="675360" cy="562680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 Black"/>
                <a:ea typeface="Arial Black"/>
              </a:endParaRPr>
            </a:p>
          </p:txBody>
        </p:sp>
        <p:sp>
          <p:nvSpPr>
            <p:cNvPr id="105" name="03"/>
            <p:cNvSpPr/>
            <p:nvPr/>
          </p:nvSpPr>
          <p:spPr>
            <a:xfrm>
              <a:off x="7080120" y="4744080"/>
              <a:ext cx="452160" cy="4212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Arial Black"/>
                  <a:ea typeface="Arial Black"/>
                </a:rPr>
                <a:t>03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06" name="04"/>
          <p:cNvGrpSpPr/>
          <p:nvPr/>
        </p:nvGrpSpPr>
        <p:grpSpPr>
          <a:xfrm>
            <a:off x="9917280" y="4655160"/>
            <a:ext cx="675360" cy="562680"/>
            <a:chOff x="9917280" y="4655160"/>
            <a:chExt cx="675360" cy="562680"/>
          </a:xfrm>
        </p:grpSpPr>
        <p:sp>
          <p:nvSpPr>
            <p:cNvPr id="107" name="Oval"/>
            <p:cNvSpPr/>
            <p:nvPr/>
          </p:nvSpPr>
          <p:spPr>
            <a:xfrm>
              <a:off x="9917280" y="4655160"/>
              <a:ext cx="675360" cy="562680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4f81bd"/>
              </a:solidFill>
              <a:round/>
            </a:ln>
            <a:effectLst>
              <a:outerShdw algn="b" blurRad="38160" dir="5400000" dist="23040" kx="0" ky="0" rotWithShape="0" sx="100000" sy="10000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no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 Black"/>
                <a:ea typeface="Arial Black"/>
              </a:endParaRPr>
            </a:p>
          </p:txBody>
        </p:sp>
        <p:sp>
          <p:nvSpPr>
            <p:cNvPr id="108" name="04"/>
            <p:cNvSpPr/>
            <p:nvPr/>
          </p:nvSpPr>
          <p:spPr>
            <a:xfrm>
              <a:off x="10028880" y="4726080"/>
              <a:ext cx="452160" cy="4212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45720" rIns="45720" anchor="ctr">
              <a:spAutoFit/>
            </a:bodyPr>
            <a:p>
              <a:pPr defTabSz="457200">
                <a:lnSpc>
                  <a:spcPct val="100000"/>
                </a:lnSpc>
                <a:tabLst>
                  <a:tab algn="l" pos="0"/>
                </a:tabLst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Arial Black"/>
                  <a:ea typeface="Arial Black"/>
                </a:rPr>
                <a:t>04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9" name="Line"/>
          <p:cNvSpPr/>
          <p:nvPr/>
        </p:nvSpPr>
        <p:spPr>
          <a:xfrm>
            <a:off x="2092680" y="4942080"/>
            <a:ext cx="2166120" cy="0"/>
          </a:xfrm>
          <a:prstGeom prst="line">
            <a:avLst/>
          </a:prstGeom>
          <a:ln w="254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0" name="Line"/>
          <p:cNvSpPr/>
          <p:nvPr/>
        </p:nvSpPr>
        <p:spPr>
          <a:xfrm>
            <a:off x="4974480" y="4942080"/>
            <a:ext cx="1961280" cy="0"/>
          </a:xfrm>
          <a:prstGeom prst="line">
            <a:avLst/>
          </a:prstGeom>
          <a:ln w="254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1" name="Line"/>
          <p:cNvSpPr/>
          <p:nvPr/>
        </p:nvSpPr>
        <p:spPr>
          <a:xfrm>
            <a:off x="7666200" y="4955040"/>
            <a:ext cx="2216160" cy="0"/>
          </a:xfrm>
          <a:prstGeom prst="line">
            <a:avLst/>
          </a:prstGeom>
          <a:ln w="254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2" name="File Ingestion"/>
          <p:cNvSpPr/>
          <p:nvPr/>
        </p:nvSpPr>
        <p:spPr>
          <a:xfrm>
            <a:off x="1033560" y="5331960"/>
            <a:ext cx="1167840" cy="2941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pace Grotesk"/>
                <a:ea typeface="Space Grotesk"/>
              </a:rPr>
              <a:t>File Ingestion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Upload .eml / .msg raw emails via React Dropzone to POST /api/analyze API."/>
          <p:cNvSpPr/>
          <p:nvPr/>
        </p:nvSpPr>
        <p:spPr>
          <a:xfrm>
            <a:off x="376200" y="5771880"/>
            <a:ext cx="2710800" cy="437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t">
            <a:spAutoFit/>
          </a:bodyPr>
          <a:p>
            <a:pPr algn="ctr" defTabSz="457200">
              <a:lnSpc>
                <a:spcPts val="14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Inter"/>
                <a:ea typeface="Inter"/>
              </a:rPr>
              <a:t>Upload .eml / .msg raw emails via React Dropzone to POST /api/analyze API.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Header &amp; NLP Parsing"/>
          <p:cNvSpPr/>
          <p:nvPr/>
        </p:nvSpPr>
        <p:spPr>
          <a:xfrm>
            <a:off x="3799080" y="5331960"/>
            <a:ext cx="2112120" cy="2941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t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pace Grotesk"/>
                <a:ea typeface="Space Grotesk"/>
              </a:rPr>
              <a:t>Header &amp; NLP Parsing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Extract Received headers, SPF/DKIM validation, &amp; NLP urgency scoring"/>
          <p:cNvSpPr/>
          <p:nvPr/>
        </p:nvSpPr>
        <p:spPr>
          <a:xfrm>
            <a:off x="3639600" y="5747400"/>
            <a:ext cx="2585160" cy="437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t">
            <a:spAutoFit/>
          </a:bodyPr>
          <a:p>
            <a:pPr algn="ctr" defTabSz="457200">
              <a:lnSpc>
                <a:spcPts val="14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Inter"/>
                <a:ea typeface="Inter"/>
              </a:rPr>
              <a:t>Extract Received headers, SPF/DKIM validation, &amp; NLP urgency scoring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opology &amp; GeoIP Map"/>
          <p:cNvSpPr/>
          <p:nvPr/>
        </p:nvSpPr>
        <p:spPr>
          <a:xfrm>
            <a:off x="6679080" y="5331960"/>
            <a:ext cx="1895760" cy="2941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pace Grotesk"/>
                <a:ea typeface="Space Grotesk"/>
              </a:rPr>
              <a:t>Topology &amp; GeoIP Map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econstruct SMTP hop network graph and pin origin coordinates on Leaflet map."/>
          <p:cNvSpPr/>
          <p:nvPr/>
        </p:nvSpPr>
        <p:spPr>
          <a:xfrm>
            <a:off x="6559200" y="5745240"/>
            <a:ext cx="2476080" cy="437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t">
            <a:spAutoFit/>
          </a:bodyPr>
          <a:p>
            <a:pPr algn="ctr" defTabSz="457200">
              <a:lnSpc>
                <a:spcPts val="14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Inter"/>
                <a:ea typeface="Inter"/>
              </a:rPr>
              <a:t>Reconstruct SMTP hop network graph and pin origin coordinates on Leaflet map.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Ledger &amp; PDF Export"/>
          <p:cNvSpPr/>
          <p:nvPr/>
        </p:nvSpPr>
        <p:spPr>
          <a:xfrm>
            <a:off x="9611640" y="5331960"/>
            <a:ext cx="1764000" cy="2941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pace Grotesk"/>
                <a:ea typeface="Space Grotesk"/>
              </a:rPr>
              <a:t>Ledger &amp; PDF Export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Hash-chained audit log creation &amp; 1-click generation of court PDF report."/>
          <p:cNvSpPr/>
          <p:nvPr/>
        </p:nvSpPr>
        <p:spPr>
          <a:xfrm>
            <a:off x="9488880" y="5771880"/>
            <a:ext cx="2249640" cy="4374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t">
            <a:spAutoFit/>
          </a:bodyPr>
          <a:p>
            <a:pPr algn="ctr" defTabSz="457200">
              <a:lnSpc>
                <a:spcPts val="14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Inter"/>
                <a:ea typeface="Inter"/>
              </a:rPr>
              <a:t>Hash-chained audit log creation &amp; 1-click generation of court PDF report.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Oval"/>
          <p:cNvSpPr/>
          <p:nvPr/>
        </p:nvSpPr>
        <p:spPr>
          <a:xfrm>
            <a:off x="199800" y="62640"/>
            <a:ext cx="1329840" cy="678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81bd"/>
            </a:solidFill>
            <a:round/>
          </a:ln>
          <a:effectLst>
            <a:outerShdw algn="b" blurRad="38160" dir="5400000" dist="2304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1" name="The…"/>
          <p:cNvSpPr/>
          <p:nvPr/>
        </p:nvSpPr>
        <p:spPr>
          <a:xfrm>
            <a:off x="336600" y="94680"/>
            <a:ext cx="1056240" cy="6148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Mentalists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"/>
          <p:cNvPicPr/>
          <p:nvPr/>
        </p:nvPicPr>
        <p:blipFill>
          <a:blip r:embed="rId2"/>
          <a:stretch/>
        </p:blipFill>
        <p:spPr>
          <a:xfrm>
            <a:off x="137880" y="0"/>
            <a:ext cx="1462320" cy="815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Footer Placeholder 6"/>
          <p:cNvSpPr/>
          <p:nvPr/>
        </p:nvSpPr>
        <p:spPr>
          <a:xfrm>
            <a:off x="4694040" y="6404400"/>
            <a:ext cx="3112200" cy="2689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TradeGothic"/>
                <a:ea typeface="TradeGothic"/>
              </a:rPr>
              <a:t>@SIH Idea submission- Template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9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12700">
            <a:noFill/>
          </a:ln>
          <a:effectLst>
            <a:outerShdw algn="b" dir="5400000" dist="23040" kx="0" ky="0" rotWithShape="0" sx="100000" sy="10000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953735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FEASIBILITY AND VIABILITY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ldNum" idx="12"/>
          </p:nvPr>
        </p:nvSpPr>
        <p:spPr>
          <a:xfrm>
            <a:off x="11393640" y="6404400"/>
            <a:ext cx="1886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1" u="none" strike="noStrike">
              <a:solidFill>
                <a:srgbClr val="ffffff"/>
              </a:solidFill>
              <a:effectLst/>
              <a:uFillTx/>
              <a:latin typeface="TradeGothic"/>
              <a:ea typeface="TradeGothic"/>
            </a:endParaRPr>
          </a:p>
        </p:txBody>
      </p:sp>
      <p:pic>
        <p:nvPicPr>
          <p:cNvPr id="127" name="Picture 10" descr="Picture 10"/>
          <p:cNvPicPr/>
          <p:nvPr/>
        </p:nvPicPr>
        <p:blipFill>
          <a:blip r:embed="rId1"/>
          <a:stretch/>
        </p:blipFill>
        <p:spPr>
          <a:xfrm>
            <a:off x="9734040" y="-7200"/>
            <a:ext cx="2249640" cy="1062000"/>
          </a:xfrm>
          <a:prstGeom prst="rect">
            <a:avLst/>
          </a:prstGeom>
          <a:noFill/>
          <a:ln w="12700">
            <a:noFill/>
          </a:ln>
        </p:spPr>
      </p:pic>
      <p:pic>
        <p:nvPicPr>
          <p:cNvPr id="128" name="ChatGPT Image Sep 8, 2026 at 11_21_53 PM.png" descr="ChatGPT Image Sep 8, 2026 at 11_21_53 PM.png"/>
          <p:cNvPicPr/>
          <p:nvPr/>
        </p:nvPicPr>
        <p:blipFill>
          <a:blip r:embed="rId2"/>
          <a:stretch/>
        </p:blipFill>
        <p:spPr>
          <a:xfrm>
            <a:off x="1374120" y="985320"/>
            <a:ext cx="9443520" cy="5314680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129" name="Risk → mitigation → implementation confidence"/>
          <p:cNvSpPr/>
          <p:nvPr/>
        </p:nvSpPr>
        <p:spPr>
          <a:xfrm>
            <a:off x="324720" y="785160"/>
            <a:ext cx="3069720" cy="2588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ptos"/>
              </a:rPr>
              <a:t>Risk → mitigation → implementation confidence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Oval"/>
          <p:cNvSpPr/>
          <p:nvPr/>
        </p:nvSpPr>
        <p:spPr>
          <a:xfrm>
            <a:off x="257400" y="109800"/>
            <a:ext cx="1329840" cy="678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81bd"/>
            </a:solidFill>
            <a:round/>
          </a:ln>
          <a:effectLst>
            <a:outerShdw algn="b" blurRad="38160" dir="5400000" dist="2304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1" name="The…"/>
          <p:cNvSpPr/>
          <p:nvPr/>
        </p:nvSpPr>
        <p:spPr>
          <a:xfrm>
            <a:off x="393840" y="141840"/>
            <a:ext cx="1056240" cy="6148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Mentalists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"/>
          <p:cNvPicPr/>
          <p:nvPr/>
        </p:nvPicPr>
        <p:blipFill>
          <a:blip r:embed="rId3"/>
          <a:stretch/>
        </p:blipFill>
        <p:spPr>
          <a:xfrm>
            <a:off x="228960" y="72000"/>
            <a:ext cx="1407240" cy="785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Footer Placeholder 6"/>
          <p:cNvSpPr/>
          <p:nvPr/>
        </p:nvSpPr>
        <p:spPr>
          <a:xfrm>
            <a:off x="4694040" y="6404400"/>
            <a:ext cx="3112200" cy="2689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TradeGothic"/>
                <a:ea typeface="TradeGothic"/>
              </a:rPr>
              <a:t>@SIH Idea submission- Template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ectangle 9"/>
          <p:cNvSpPr/>
          <p:nvPr/>
        </p:nvSpPr>
        <p:spPr>
          <a:xfrm>
            <a:off x="0" y="6469920"/>
            <a:ext cx="12191760" cy="502920"/>
          </a:xfrm>
          <a:prstGeom prst="rect">
            <a:avLst/>
          </a:prstGeom>
          <a:solidFill>
            <a:srgbClr val="0070c0"/>
          </a:solidFill>
          <a:ln w="12700">
            <a:noFill/>
          </a:ln>
          <a:effectLst>
            <a:outerShdw algn="b" dir="5400000" dist="23040" kx="0" ky="0" rotWithShape="0" sx="100000" sy="10000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953735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09480" y="-38880"/>
            <a:ext cx="10972440" cy="114264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IMPACT AND BENEFITS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sldNum" idx="13"/>
          </p:nvPr>
        </p:nvSpPr>
        <p:spPr>
          <a:xfrm>
            <a:off x="11393640" y="6404400"/>
            <a:ext cx="1886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1" u="none" strike="noStrike">
              <a:solidFill>
                <a:srgbClr val="ffffff"/>
              </a:solidFill>
              <a:effectLst/>
              <a:uFillTx/>
              <a:latin typeface="TradeGothic"/>
              <a:ea typeface="TradeGothic"/>
            </a:endParaRPr>
          </a:p>
        </p:txBody>
      </p:sp>
      <p:pic>
        <p:nvPicPr>
          <p:cNvPr id="137" name="Picture 10" descr="Picture 10"/>
          <p:cNvPicPr/>
          <p:nvPr/>
        </p:nvPicPr>
        <p:blipFill>
          <a:blip r:embed="rId1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 w="12700">
            <a:noFill/>
          </a:ln>
        </p:spPr>
      </p:pic>
      <p:pic>
        <p:nvPicPr>
          <p:cNvPr id="138" name="WhatsApp Image 2026-09-08 at 11.35.08 PM.jpeg" descr="WhatsApp Image 2026-09-08 at 11.35.08 PM.jpeg"/>
          <p:cNvPicPr/>
          <p:nvPr/>
        </p:nvPicPr>
        <p:blipFill>
          <a:blip r:embed="rId2"/>
          <a:stretch/>
        </p:blipFill>
        <p:spPr>
          <a:xfrm>
            <a:off x="953640" y="1096200"/>
            <a:ext cx="10284480" cy="5340600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139" name="Who benefits • what improves • how it scales"/>
          <p:cNvSpPr/>
          <p:nvPr/>
        </p:nvSpPr>
        <p:spPr>
          <a:xfrm>
            <a:off x="388800" y="773280"/>
            <a:ext cx="2872440" cy="2563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ptos"/>
              </a:rPr>
              <a:t>Who benefits • what improves • how it scales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Oval"/>
          <p:cNvSpPr/>
          <p:nvPr/>
        </p:nvSpPr>
        <p:spPr>
          <a:xfrm>
            <a:off x="257400" y="109800"/>
            <a:ext cx="1329840" cy="678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81bd"/>
            </a:solidFill>
            <a:round/>
          </a:ln>
          <a:effectLst>
            <a:outerShdw algn="b" blurRad="38160" dir="5400000" dist="2304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1" name="The…"/>
          <p:cNvSpPr/>
          <p:nvPr/>
        </p:nvSpPr>
        <p:spPr>
          <a:xfrm>
            <a:off x="393840" y="141840"/>
            <a:ext cx="1056240" cy="6148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Mentalists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"/>
          <p:cNvPicPr/>
          <p:nvPr/>
        </p:nvPicPr>
        <p:blipFill>
          <a:blip r:embed="rId3"/>
          <a:stretch/>
        </p:blipFill>
        <p:spPr>
          <a:xfrm>
            <a:off x="192600" y="0"/>
            <a:ext cx="1510920" cy="843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Footer Placeholder 6"/>
          <p:cNvSpPr/>
          <p:nvPr/>
        </p:nvSpPr>
        <p:spPr>
          <a:xfrm>
            <a:off x="4694040" y="6404400"/>
            <a:ext cx="3112200" cy="2689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TradeGothic"/>
                <a:ea typeface="TradeGothic"/>
              </a:rPr>
              <a:t>@SIH Idea submission- Template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ectangle 9"/>
          <p:cNvSpPr/>
          <p:nvPr/>
        </p:nvSpPr>
        <p:spPr>
          <a:xfrm>
            <a:off x="0" y="6354720"/>
            <a:ext cx="12191760" cy="502920"/>
          </a:xfrm>
          <a:prstGeom prst="rect">
            <a:avLst/>
          </a:prstGeom>
          <a:solidFill>
            <a:srgbClr val="0070c0"/>
          </a:solidFill>
          <a:ln w="12700">
            <a:noFill/>
          </a:ln>
          <a:effectLst>
            <a:outerShdw algn="b" dir="5400000" dist="23040" kx="0" ky="0" rotWithShape="0" sx="100000" sy="10000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953735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440" cy="114264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RESEARCH  AND REFERENCES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14"/>
          </p:nvPr>
        </p:nvSpPr>
        <p:spPr>
          <a:xfrm>
            <a:off x="11393640" y="6404400"/>
            <a:ext cx="188640" cy="26892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ctr">
            <a:noAutofit/>
          </a:bodyPr>
          <a:p>
            <a:pPr indent="0">
              <a:buNone/>
            </a:pPr>
            <a:endParaRPr lang="en-US" sz="1200" b="1" u="none" strike="noStrike">
              <a:solidFill>
                <a:srgbClr val="ffffff"/>
              </a:solidFill>
              <a:effectLst/>
              <a:uFillTx/>
              <a:latin typeface="TradeGothic"/>
              <a:ea typeface="TradeGothic"/>
            </a:endParaRPr>
          </a:p>
        </p:txBody>
      </p:sp>
      <p:sp>
        <p:nvSpPr>
          <p:cNvPr id="147" name="Oval 8"/>
          <p:cNvSpPr/>
          <p:nvPr/>
        </p:nvSpPr>
        <p:spPr>
          <a:xfrm>
            <a:off x="249120" y="128880"/>
            <a:ext cx="1251360" cy="8071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Calibri"/>
            </a:endParaRPr>
          </a:p>
        </p:txBody>
      </p:sp>
      <p:pic>
        <p:nvPicPr>
          <p:cNvPr id="148" name="Picture 11" descr="Picture 11"/>
          <p:cNvPicPr/>
          <p:nvPr/>
        </p:nvPicPr>
        <p:blipFill>
          <a:blip r:embed="rId1"/>
          <a:stretch/>
        </p:blipFill>
        <p:spPr>
          <a:xfrm>
            <a:off x="9780120" y="1440"/>
            <a:ext cx="2249640" cy="1062000"/>
          </a:xfrm>
          <a:prstGeom prst="rect">
            <a:avLst/>
          </a:prstGeom>
          <a:noFill/>
          <a:ln w="12700">
            <a:noFill/>
          </a:ln>
        </p:spPr>
      </p:pic>
      <p:graphicFrame>
        <p:nvGraphicFramePr>
          <p:cNvPr id="149" name="Table 1"/>
          <p:cNvGraphicFramePr/>
          <p:nvPr/>
        </p:nvGraphicFramePr>
        <p:xfrm>
          <a:off x="467640" y="1238760"/>
          <a:ext cx="11256120" cy="4648320"/>
        </p:xfrm>
        <a:graphic>
          <a:graphicData uri="http://schemas.openxmlformats.org/drawingml/2006/table">
            <a:tbl>
              <a:tblPr/>
              <a:tblGrid>
                <a:gridCol w="5628240"/>
                <a:gridCol w="5628240"/>
              </a:tblGrid>
              <a:tr h="1549440">
                <a:tc>
                  <a:txBody>
                    <a:bodyPr lIns="0" rIns="0" tIns="0" bIns="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0" marR="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0" rIns="0" tIns="0" bIns="0" anchor="t">
                      <a:noAutofit/>
                    </a:bodyPr>
                    <a:p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r" defTabSz="4572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1549440">
                <a:tc>
                  <a:txBody>
                    <a:bodyPr lIns="0" rIns="0" tIns="0" bIns="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0" marR="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 lIns="0" rIns="0" tIns="0" bIns="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0" marR="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4"/>
                    </a:solidFill>
                  </a:tcPr>
                </a:tc>
              </a:tr>
              <a:tr h="1549440">
                <a:tc>
                  <a:txBody>
                    <a:bodyPr lIns="0" rIns="0" tIns="0" bIns="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0" marR="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0" rIns="0" tIns="0" bIns="0" anchor="t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0" marR="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sp>
        <p:nvSpPr>
          <p:cNvPr id="150" name="SMTP AUTHENTICATION…"/>
          <p:cNvSpPr/>
          <p:nvPr/>
        </p:nvSpPr>
        <p:spPr>
          <a:xfrm>
            <a:off x="2089440" y="1470600"/>
            <a:ext cx="3527640" cy="6879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sng" strike="noStrike">
                <a:solidFill>
                  <a:srgbClr val="0000ff"/>
                </a:solidFill>
                <a:effectLst/>
                <a:uFillTx/>
                <a:latin typeface="Times New Roman"/>
                <a:ea typeface="Times New Roman"/>
                <a:hlinkClick r:id="rId2"/>
              </a:rPr>
              <a:t>SMTP AUTHENTICATION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Garamond"/>
                <a:ea typeface="Garamond"/>
              </a:rPr>
              <a:t>Email authentication &amp;SMTP security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MAGIC BYTES &amp; FILE VALIDATION…"/>
          <p:cNvSpPr/>
          <p:nvPr/>
        </p:nvSpPr>
        <p:spPr>
          <a:xfrm>
            <a:off x="7780680" y="1397520"/>
            <a:ext cx="4764600" cy="10180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sng" strike="noStrike">
                <a:solidFill>
                  <a:srgbClr val="0000ff"/>
                </a:solidFill>
                <a:effectLst/>
                <a:uFillTx/>
                <a:latin typeface="Times New Roman"/>
                <a:ea typeface="Times New Roman"/>
                <a:hlinkClick r:id="rId3"/>
              </a:rPr>
              <a:t>MAGIC BYTES</a:t>
            </a: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&amp; FILE VALIDATION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Garamond"/>
                <a:ea typeface="Garamond"/>
              </a:rPr>
              <a:t>File signature /upload validation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ENTENCE TRANSFORMERS…"/>
          <p:cNvSpPr/>
          <p:nvPr/>
        </p:nvSpPr>
        <p:spPr>
          <a:xfrm>
            <a:off x="2092680" y="3046320"/>
            <a:ext cx="4018680" cy="6879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sng" strike="noStrike">
                <a:solidFill>
                  <a:srgbClr val="0000ff"/>
                </a:solidFill>
                <a:effectLst/>
                <a:uFillTx/>
                <a:latin typeface="Times New Roman"/>
                <a:ea typeface="Times New Roman"/>
                <a:hlinkClick r:id="rId4"/>
              </a:rPr>
              <a:t>SENTENCE TRANSFORMERS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Garamond"/>
                <a:ea typeface="Garamond"/>
              </a:rPr>
              <a:t>Semantic text similarity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INFORMATION ENTROPY…"/>
          <p:cNvSpPr/>
          <p:nvPr/>
        </p:nvSpPr>
        <p:spPr>
          <a:xfrm>
            <a:off x="7754760" y="3084840"/>
            <a:ext cx="3588480" cy="6879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sng" strike="noStrike">
                <a:solidFill>
                  <a:srgbClr val="0000ff"/>
                </a:solidFill>
                <a:effectLst/>
                <a:uFillTx/>
                <a:latin typeface="Times New Roman"/>
                <a:ea typeface="Times New Roman"/>
                <a:hlinkClick r:id="rId5"/>
              </a:rPr>
              <a:t>INFORMATION ENTROPY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Garamond"/>
                <a:ea typeface="Garamond"/>
              </a:rPr>
              <a:t>Entropy - based analysis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LEVENSHTEIN DISTANCE…"/>
          <p:cNvSpPr/>
          <p:nvPr/>
        </p:nvSpPr>
        <p:spPr>
          <a:xfrm>
            <a:off x="2160720" y="4622040"/>
            <a:ext cx="3615480" cy="6879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sng" strike="noStrike">
                <a:solidFill>
                  <a:srgbClr val="0000ff"/>
                </a:solidFill>
                <a:effectLst/>
                <a:uFillTx/>
                <a:latin typeface="Times New Roman"/>
                <a:ea typeface="Times New Roman"/>
                <a:hlinkClick r:id="rId6"/>
              </a:rPr>
              <a:t>LEVENSHTEIN DISTANCE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Garamond"/>
                <a:ea typeface="Garamond"/>
              </a:rPr>
              <a:t>String similarity /typo detection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paCy ENGLISH MODELS…"/>
          <p:cNvSpPr/>
          <p:nvPr/>
        </p:nvSpPr>
        <p:spPr>
          <a:xfrm>
            <a:off x="7812360" y="4622040"/>
            <a:ext cx="3472920" cy="6879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sng" strike="noStrike">
                <a:solidFill>
                  <a:srgbClr val="0000ff"/>
                </a:solidFill>
                <a:effectLst/>
                <a:uFillTx/>
                <a:latin typeface="Times New Roman"/>
                <a:ea typeface="Times New Roman"/>
                <a:hlinkClick r:id="rId7"/>
              </a:rPr>
              <a:t>spaCy ENGLISH MODELS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Garamond"/>
                <a:ea typeface="Garamond"/>
              </a:rPr>
              <a:t>NLP &amp; language processing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Screenshot 2026-09-09 at 12.29.49 PM.png" descr="Screenshot 2026-09-09 at 12.29.49 PM.png"/>
          <p:cNvPicPr/>
          <p:nvPr/>
        </p:nvPicPr>
        <p:blipFill>
          <a:blip r:embed="rId8"/>
          <a:stretch/>
        </p:blipFill>
        <p:spPr>
          <a:xfrm>
            <a:off x="550440" y="1409400"/>
            <a:ext cx="1366920" cy="1178280"/>
          </a:xfrm>
          <a:prstGeom prst="rect">
            <a:avLst/>
          </a:prstGeom>
          <a:noFill/>
          <a:ln w="12700">
            <a:noFill/>
          </a:ln>
        </p:spPr>
      </p:pic>
      <p:pic>
        <p:nvPicPr>
          <p:cNvPr id="157" name="Screenshot 2026-09-09 at 12.30.23 PM.png" descr="Screenshot 2026-09-09 at 12.30.23 PM.png"/>
          <p:cNvPicPr/>
          <p:nvPr/>
        </p:nvPicPr>
        <p:blipFill>
          <a:blip r:embed="rId9"/>
          <a:stretch/>
        </p:blipFill>
        <p:spPr>
          <a:xfrm>
            <a:off x="6157440" y="1495080"/>
            <a:ext cx="1366920" cy="1150920"/>
          </a:xfrm>
          <a:prstGeom prst="rect">
            <a:avLst/>
          </a:prstGeom>
          <a:noFill/>
          <a:ln w="12700">
            <a:noFill/>
          </a:ln>
        </p:spPr>
      </p:pic>
      <p:pic>
        <p:nvPicPr>
          <p:cNvPr id="158" name="Screenshot 2026-09-09 at 12.31.35 PM.png" descr="Screenshot 2026-09-09 at 12.31.35 PM.png"/>
          <p:cNvPicPr/>
          <p:nvPr/>
        </p:nvPicPr>
        <p:blipFill>
          <a:blip r:embed="rId10"/>
          <a:stretch/>
        </p:blipFill>
        <p:spPr>
          <a:xfrm>
            <a:off x="579240" y="2987280"/>
            <a:ext cx="1436400" cy="1150920"/>
          </a:xfrm>
          <a:prstGeom prst="rect">
            <a:avLst/>
          </a:prstGeom>
          <a:noFill/>
          <a:ln w="12700">
            <a:noFill/>
          </a:ln>
        </p:spPr>
      </p:pic>
      <p:pic>
        <p:nvPicPr>
          <p:cNvPr id="159" name="Screenshot 2026-09-09 at 12.33.26 PM.png" descr="Screenshot 2026-09-09 at 12.33.26 PM.png"/>
          <p:cNvPicPr/>
          <p:nvPr/>
        </p:nvPicPr>
        <p:blipFill>
          <a:blip r:embed="rId11"/>
          <a:stretch/>
        </p:blipFill>
        <p:spPr>
          <a:xfrm>
            <a:off x="6189480" y="3031920"/>
            <a:ext cx="1430280" cy="1116360"/>
          </a:xfrm>
          <a:prstGeom prst="rect">
            <a:avLst/>
          </a:prstGeom>
          <a:noFill/>
          <a:ln w="12700">
            <a:noFill/>
          </a:ln>
        </p:spPr>
      </p:pic>
      <p:pic>
        <p:nvPicPr>
          <p:cNvPr id="160" name="Screenshot 2026-09-09 at 12.35.49 PM.png" descr="Screenshot 2026-09-09 at 12.35.49 PM.png"/>
          <p:cNvPicPr/>
          <p:nvPr/>
        </p:nvPicPr>
        <p:blipFill>
          <a:blip r:embed="rId12"/>
          <a:stretch/>
        </p:blipFill>
        <p:spPr>
          <a:xfrm>
            <a:off x="577800" y="4538160"/>
            <a:ext cx="1362960" cy="1062000"/>
          </a:xfrm>
          <a:prstGeom prst="rect">
            <a:avLst/>
          </a:prstGeom>
          <a:noFill/>
          <a:ln w="12700">
            <a:noFill/>
          </a:ln>
        </p:spPr>
      </p:pic>
      <p:pic>
        <p:nvPicPr>
          <p:cNvPr id="161" name="Screenshot 2026-09-09 at 12.37.48 PM.png" descr="Screenshot 2026-09-09 at 12.37.48 PM.png"/>
          <p:cNvPicPr/>
          <p:nvPr/>
        </p:nvPicPr>
        <p:blipFill>
          <a:blip r:embed="rId13"/>
          <a:stretch/>
        </p:blipFill>
        <p:spPr>
          <a:xfrm>
            <a:off x="6224760" y="4525560"/>
            <a:ext cx="1435680" cy="1116360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162" name="Key standards, protocols and source material"/>
          <p:cNvSpPr/>
          <p:nvPr/>
        </p:nvSpPr>
        <p:spPr>
          <a:xfrm>
            <a:off x="1398240" y="838800"/>
            <a:ext cx="3267720" cy="4266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ptos"/>
                <a:ea typeface="Aptos"/>
              </a:rPr>
              <a:t>Key standards, protocols and source material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he Mentalists"/>
          <p:cNvSpPr/>
          <p:nvPr/>
        </p:nvSpPr>
        <p:spPr>
          <a:xfrm>
            <a:off x="365760" y="216360"/>
            <a:ext cx="1366920" cy="6148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Mentalists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4" name=""/>
          <p:cNvPicPr/>
          <p:nvPr/>
        </p:nvPicPr>
        <p:blipFill>
          <a:blip r:embed="rId14"/>
          <a:stretch/>
        </p:blipFill>
        <p:spPr>
          <a:xfrm>
            <a:off x="0" y="73800"/>
            <a:ext cx="1635840" cy="91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 pitchFamily="0" charset="1"/>
        <a:ea typeface="Calibri" pitchFamily="0" charset="1"/>
        <a:cs typeface="Calibri" pitchFamily="0" charset="1"/>
      </a:majorFont>
      <a:minorFont>
        <a:latin typeface="Helvetica" pitchFamily="0" charset="1"/>
        <a:ea typeface="Helvetica" pitchFamily="0" charset="1"/>
        <a:cs typeface="Helvetica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LibreOffice/25.8.4.2$Windows_X86_64 LibreOffice_project/290daaa01b999472f0c7a3890eb6a550fd74c6df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2026-09-09T22:53:42Z</dcterms:modified>
  <cp:revision>1</cp:revision>
  <dc:subject/>
  <dc:title/>
</cp:coreProperties>
</file>