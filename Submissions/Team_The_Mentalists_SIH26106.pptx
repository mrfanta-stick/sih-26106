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7772400" cy="10058400"/>
  <p:embeddedFontLst>
    <p:embeddedFont>
      <p:font typeface="Garamond"/>
      <p:regular r:id="rId12"/>
      <p:bold r:id="rId13"/>
      <p:italic r:id="rId14"/>
      <p:boldItalic r:id="rId15"/>
    </p:embeddedFont>
    <p:embeddedFont>
      <p:font typeface="Inter"/>
      <p:regular r:id="rId16"/>
      <p:bold r:id="rId17"/>
      <p:italic r:id="rId18"/>
      <p:boldItalic r:id="rId19"/>
    </p:embeddedFont>
    <p:embeddedFont>
      <p:font typeface="Arial Black"/>
      <p:regular r:id="rId20"/>
    </p:embeddedFont>
    <p:embeddedFont>
      <p:font typeface="Oswald"/>
      <p:regular r:id="rId21"/>
      <p:bold r:id="rId22"/>
    </p:embeddedFont>
    <p:embeddedFont>
      <p:font typeface="Space Grotesk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ipZ3yKcMGwX5VFdHNLtSGlK3LZ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78C687C-3106-4394-9FBD-B5B9E1689773}">
  <a:tblStyle styleId="{978C687C-3106-4394-9FBD-B5B9E168977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ialBlack-regular.fntdata"/><Relationship Id="rId22" Type="http://schemas.openxmlformats.org/officeDocument/2006/relationships/font" Target="fonts/Oswald-bold.fntdata"/><Relationship Id="rId21" Type="http://schemas.openxmlformats.org/officeDocument/2006/relationships/font" Target="fonts/Oswald-regular.fntdata"/><Relationship Id="rId24" Type="http://schemas.openxmlformats.org/officeDocument/2006/relationships/font" Target="fonts/SpaceGrotesk-bold.fntdata"/><Relationship Id="rId23" Type="http://schemas.openxmlformats.org/officeDocument/2006/relationships/font" Target="fonts/SpaceGrotesk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Garamond-bold.fntdata"/><Relationship Id="rId12" Type="http://schemas.openxmlformats.org/officeDocument/2006/relationships/font" Target="fonts/Garamond-regular.fntdata"/><Relationship Id="rId15" Type="http://schemas.openxmlformats.org/officeDocument/2006/relationships/font" Target="fonts/Garamond-boldItalic.fntdata"/><Relationship Id="rId14" Type="http://schemas.openxmlformats.org/officeDocument/2006/relationships/font" Target="fonts/Garamond-italic.fntdata"/><Relationship Id="rId17" Type="http://schemas.openxmlformats.org/officeDocument/2006/relationships/font" Target="fonts/Inter-bold.fntdata"/><Relationship Id="rId16" Type="http://schemas.openxmlformats.org/officeDocument/2006/relationships/font" Target="fonts/Inter-regular.fntdata"/><Relationship Id="rId19" Type="http://schemas.openxmlformats.org/officeDocument/2006/relationships/font" Target="fonts/Inter-boldItalic.fntdata"/><Relationship Id="rId18" Type="http://schemas.openxmlformats.org/officeDocument/2006/relationships/font" Target="fonts/Inter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4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FFFFFF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8"/>
          <p:cNvSpPr txBox="1"/>
          <p:nvPr>
            <p:ph type="title"/>
          </p:nvPr>
        </p:nvSpPr>
        <p:spPr>
          <a:xfrm>
            <a:off x="914400" y="2130480"/>
            <a:ext cx="10362960" cy="146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p8"/>
          <p:cNvSpPr txBox="1"/>
          <p:nvPr>
            <p:ph idx="1" type="body"/>
          </p:nvPr>
        </p:nvSpPr>
        <p:spPr>
          <a:xfrm>
            <a:off x="1828800" y="3886200"/>
            <a:ext cx="8534160" cy="17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" name="Google Shape;9;p8"/>
          <p:cNvSpPr txBox="1"/>
          <p:nvPr>
            <p:ph idx="12" type="sldNum"/>
          </p:nvPr>
        </p:nvSpPr>
        <p:spPr>
          <a:xfrm>
            <a:off x="11308680" y="6404400"/>
            <a:ext cx="273240" cy="26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l">
              <a:spcBef>
                <a:spcPts val="0"/>
              </a:spcBef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l">
              <a:spcBef>
                <a:spcPts val="0"/>
              </a:spcBef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l">
              <a:spcBef>
                <a:spcPts val="0"/>
              </a:spcBef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l">
              <a:spcBef>
                <a:spcPts val="0"/>
              </a:spcBef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l">
              <a:spcBef>
                <a:spcPts val="0"/>
              </a:spcBef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l">
              <a:spcBef>
                <a:spcPts val="0"/>
              </a:spcBef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l">
              <a:spcBef>
                <a:spcPts val="0"/>
              </a:spcBef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l">
              <a:spcBef>
                <a:spcPts val="0"/>
              </a:spcBef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tx">
  <p:cSld name="TITLE_AND_BODY">
    <p:bg>
      <p:bgPr>
        <a:solidFill>
          <a:srgbClr val="FFFFFF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9"/>
          <p:cNvSpPr txBox="1"/>
          <p:nvPr>
            <p:ph type="title"/>
          </p:nvPr>
        </p:nvSpPr>
        <p:spPr>
          <a:xfrm>
            <a:off x="609480" y="-47520"/>
            <a:ext cx="109724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" name="Google Shape;12;p9"/>
          <p:cNvSpPr txBox="1"/>
          <p:nvPr>
            <p:ph idx="1" type="body"/>
          </p:nvPr>
        </p:nvSpPr>
        <p:spPr>
          <a:xfrm>
            <a:off x="609480" y="1095480"/>
            <a:ext cx="10972440" cy="5030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3" name="Google Shape;13;p9"/>
          <p:cNvSpPr txBox="1"/>
          <p:nvPr>
            <p:ph idx="12" type="sldNum"/>
          </p:nvPr>
        </p:nvSpPr>
        <p:spPr>
          <a:xfrm>
            <a:off x="11308680" y="6404400"/>
            <a:ext cx="273240" cy="26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l">
              <a:spcBef>
                <a:spcPts val="0"/>
              </a:spcBef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l">
              <a:spcBef>
                <a:spcPts val="0"/>
              </a:spcBef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l">
              <a:spcBef>
                <a:spcPts val="0"/>
              </a:spcBef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l">
              <a:spcBef>
                <a:spcPts val="0"/>
              </a:spcBef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l">
              <a:spcBef>
                <a:spcPts val="0"/>
              </a:spcBef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l">
              <a:spcBef>
                <a:spcPts val="0"/>
              </a:spcBef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l">
              <a:spcBef>
                <a:spcPts val="0"/>
              </a:spcBef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l">
              <a:spcBef>
                <a:spcPts val="0"/>
              </a:spcBef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bg>
      <p:bgPr>
        <a:solidFill>
          <a:srgbClr val="FFFFFF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0"/>
          <p:cNvSpPr txBox="1"/>
          <p:nvPr>
            <p:ph type="title"/>
          </p:nvPr>
        </p:nvSpPr>
        <p:spPr>
          <a:xfrm>
            <a:off x="2389680" y="4800600"/>
            <a:ext cx="7314840" cy="566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6" name="Google Shape;16;p10"/>
          <p:cNvSpPr txBox="1"/>
          <p:nvPr>
            <p:ph idx="1" type="body"/>
          </p:nvPr>
        </p:nvSpPr>
        <p:spPr>
          <a:xfrm>
            <a:off x="2389680" y="612720"/>
            <a:ext cx="73148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7" name="Google Shape;17;p10"/>
          <p:cNvSpPr txBox="1"/>
          <p:nvPr>
            <p:ph idx="2" type="body"/>
          </p:nvPr>
        </p:nvSpPr>
        <p:spPr>
          <a:xfrm>
            <a:off x="2389680" y="5367240"/>
            <a:ext cx="7314840" cy="8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8" name="Google Shape;18;p10"/>
          <p:cNvSpPr txBox="1"/>
          <p:nvPr>
            <p:ph idx="12" type="sldNum"/>
          </p:nvPr>
        </p:nvSpPr>
        <p:spPr>
          <a:xfrm>
            <a:off x="11308680" y="6404400"/>
            <a:ext cx="273240" cy="26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l">
              <a:spcBef>
                <a:spcPts val="0"/>
              </a:spcBef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l">
              <a:spcBef>
                <a:spcPts val="0"/>
              </a:spcBef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l">
              <a:spcBef>
                <a:spcPts val="0"/>
              </a:spcBef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l">
              <a:spcBef>
                <a:spcPts val="0"/>
              </a:spcBef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l">
              <a:spcBef>
                <a:spcPts val="0"/>
              </a:spcBef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l">
              <a:spcBef>
                <a:spcPts val="0"/>
              </a:spcBef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l">
              <a:spcBef>
                <a:spcPts val="0"/>
              </a:spcBef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l">
              <a:spcBef>
                <a:spcPts val="0"/>
              </a:spcBef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bg>
      <p:bgPr>
        <a:solidFill>
          <a:srgbClr val="FFFFFF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1"/>
          <p:cNvSpPr txBox="1"/>
          <p:nvPr>
            <p:ph type="title"/>
          </p:nvPr>
        </p:nvSpPr>
        <p:spPr>
          <a:xfrm>
            <a:off x="963000" y="4406760"/>
            <a:ext cx="10362960" cy="1361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1" name="Google Shape;21;p11"/>
          <p:cNvSpPr txBox="1"/>
          <p:nvPr>
            <p:ph idx="1" type="body"/>
          </p:nvPr>
        </p:nvSpPr>
        <p:spPr>
          <a:xfrm>
            <a:off x="963000" y="2906640"/>
            <a:ext cx="10362960" cy="1499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11308680" y="6404400"/>
            <a:ext cx="273240" cy="26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l">
              <a:spcBef>
                <a:spcPts val="0"/>
              </a:spcBef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l">
              <a:spcBef>
                <a:spcPts val="0"/>
              </a:spcBef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l">
              <a:spcBef>
                <a:spcPts val="0"/>
              </a:spcBef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l">
              <a:spcBef>
                <a:spcPts val="0"/>
              </a:spcBef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l">
              <a:spcBef>
                <a:spcPts val="0"/>
              </a:spcBef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l">
              <a:spcBef>
                <a:spcPts val="0"/>
              </a:spcBef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l">
              <a:spcBef>
                <a:spcPts val="0"/>
              </a:spcBef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l">
              <a:spcBef>
                <a:spcPts val="0"/>
              </a:spcBef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bg>
      <p:bgPr>
        <a:solidFill>
          <a:srgbClr val="FFFFFF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609480" y="-47520"/>
            <a:ext cx="109724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609480" y="1600200"/>
            <a:ext cx="538452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11308680" y="6404400"/>
            <a:ext cx="273240" cy="26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l">
              <a:spcBef>
                <a:spcPts val="0"/>
              </a:spcBef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l">
              <a:spcBef>
                <a:spcPts val="0"/>
              </a:spcBef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l">
              <a:spcBef>
                <a:spcPts val="0"/>
              </a:spcBef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l">
              <a:spcBef>
                <a:spcPts val="0"/>
              </a:spcBef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l">
              <a:spcBef>
                <a:spcPts val="0"/>
              </a:spcBef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l">
              <a:spcBef>
                <a:spcPts val="0"/>
              </a:spcBef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l">
              <a:spcBef>
                <a:spcPts val="0"/>
              </a:spcBef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l">
              <a:spcBef>
                <a:spcPts val="0"/>
              </a:spcBef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609480" y="-47520"/>
            <a:ext cx="109724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609480" y="1535040"/>
            <a:ext cx="5386680" cy="6393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0" name="Google Shape;30;p13"/>
          <p:cNvSpPr txBox="1"/>
          <p:nvPr>
            <p:ph idx="2" type="body"/>
          </p:nvPr>
        </p:nvSpPr>
        <p:spPr>
          <a:xfrm>
            <a:off x="6193440" y="1535040"/>
            <a:ext cx="5388840" cy="6393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1" name="Google Shape;31;p13"/>
          <p:cNvSpPr txBox="1"/>
          <p:nvPr>
            <p:ph idx="12" type="sldNum"/>
          </p:nvPr>
        </p:nvSpPr>
        <p:spPr>
          <a:xfrm>
            <a:off x="11308680" y="6404400"/>
            <a:ext cx="273240" cy="26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l">
              <a:spcBef>
                <a:spcPts val="0"/>
              </a:spcBef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l">
              <a:spcBef>
                <a:spcPts val="0"/>
              </a:spcBef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l">
              <a:spcBef>
                <a:spcPts val="0"/>
              </a:spcBef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l">
              <a:spcBef>
                <a:spcPts val="0"/>
              </a:spcBef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l">
              <a:spcBef>
                <a:spcPts val="0"/>
              </a:spcBef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l">
              <a:spcBef>
                <a:spcPts val="0"/>
              </a:spcBef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l">
              <a:spcBef>
                <a:spcPts val="0"/>
              </a:spcBef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l">
              <a:spcBef>
                <a:spcPts val="0"/>
              </a:spcBef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bg>
      <p:bgPr>
        <a:solidFill>
          <a:srgbClr val="FFFFFF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4"/>
          <p:cNvSpPr txBox="1"/>
          <p:nvPr>
            <p:ph type="title"/>
          </p:nvPr>
        </p:nvSpPr>
        <p:spPr>
          <a:xfrm>
            <a:off x="609480" y="-47520"/>
            <a:ext cx="109724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4" name="Google Shape;34;p14"/>
          <p:cNvSpPr txBox="1"/>
          <p:nvPr>
            <p:ph idx="12" type="sldNum"/>
          </p:nvPr>
        </p:nvSpPr>
        <p:spPr>
          <a:xfrm>
            <a:off x="11308680" y="6404400"/>
            <a:ext cx="273240" cy="26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l">
              <a:spcBef>
                <a:spcPts val="0"/>
              </a:spcBef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l">
              <a:spcBef>
                <a:spcPts val="0"/>
              </a:spcBef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l">
              <a:spcBef>
                <a:spcPts val="0"/>
              </a:spcBef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l">
              <a:spcBef>
                <a:spcPts val="0"/>
              </a:spcBef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l">
              <a:spcBef>
                <a:spcPts val="0"/>
              </a:spcBef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l">
              <a:spcBef>
                <a:spcPts val="0"/>
              </a:spcBef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l">
              <a:spcBef>
                <a:spcPts val="0"/>
              </a:spcBef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l">
              <a:spcBef>
                <a:spcPts val="0"/>
              </a:spcBef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bg>
      <p:bgPr>
        <a:solidFill>
          <a:srgbClr val="FFFFFF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5"/>
          <p:cNvSpPr txBox="1"/>
          <p:nvPr>
            <p:ph idx="12" type="sldNum"/>
          </p:nvPr>
        </p:nvSpPr>
        <p:spPr>
          <a:xfrm>
            <a:off x="11308680" y="6404400"/>
            <a:ext cx="273240" cy="26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l">
              <a:spcBef>
                <a:spcPts val="0"/>
              </a:spcBef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l">
              <a:spcBef>
                <a:spcPts val="0"/>
              </a:spcBef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l">
              <a:spcBef>
                <a:spcPts val="0"/>
              </a:spcBef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l">
              <a:spcBef>
                <a:spcPts val="0"/>
              </a:spcBef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l">
              <a:spcBef>
                <a:spcPts val="0"/>
              </a:spcBef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l">
              <a:spcBef>
                <a:spcPts val="0"/>
              </a:spcBef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l">
              <a:spcBef>
                <a:spcPts val="0"/>
              </a:spcBef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l">
              <a:spcBef>
                <a:spcPts val="0"/>
              </a:spcBef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bg>
      <p:bgPr>
        <a:solidFill>
          <a:srgbClr val="FFFFFF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6"/>
          <p:cNvSpPr txBox="1"/>
          <p:nvPr>
            <p:ph type="title"/>
          </p:nvPr>
        </p:nvSpPr>
        <p:spPr>
          <a:xfrm>
            <a:off x="609480" y="272880"/>
            <a:ext cx="4010760" cy="11617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9" name="Google Shape;39;p16"/>
          <p:cNvSpPr txBox="1"/>
          <p:nvPr>
            <p:ph idx="1" type="body"/>
          </p:nvPr>
        </p:nvSpPr>
        <p:spPr>
          <a:xfrm>
            <a:off x="4766760" y="272880"/>
            <a:ext cx="6815160" cy="585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0" name="Google Shape;40;p16"/>
          <p:cNvSpPr txBox="1"/>
          <p:nvPr>
            <p:ph idx="2" type="body"/>
          </p:nvPr>
        </p:nvSpPr>
        <p:spPr>
          <a:xfrm>
            <a:off x="609480" y="1434960"/>
            <a:ext cx="4010760" cy="46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1" name="Google Shape;41;p16"/>
          <p:cNvSpPr txBox="1"/>
          <p:nvPr>
            <p:ph idx="12" type="sldNum"/>
          </p:nvPr>
        </p:nvSpPr>
        <p:spPr>
          <a:xfrm>
            <a:off x="11308680" y="6404400"/>
            <a:ext cx="273240" cy="26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l">
              <a:spcBef>
                <a:spcPts val="0"/>
              </a:spcBef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l">
              <a:spcBef>
                <a:spcPts val="0"/>
              </a:spcBef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l">
              <a:spcBef>
                <a:spcPts val="0"/>
              </a:spcBef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l">
              <a:spcBef>
                <a:spcPts val="0"/>
              </a:spcBef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l">
              <a:spcBef>
                <a:spcPts val="0"/>
              </a:spcBef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l">
              <a:spcBef>
                <a:spcPts val="0"/>
              </a:spcBef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l">
              <a:spcBef>
                <a:spcPts val="0"/>
              </a:spcBef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l">
              <a:spcBef>
                <a:spcPts val="0"/>
              </a:spcBef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8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1.jpg"/><Relationship Id="rId5" Type="http://schemas.openxmlformats.org/officeDocument/2006/relationships/image" Target="../media/image8.jp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6.png"/><Relationship Id="rId10" Type="http://schemas.openxmlformats.org/officeDocument/2006/relationships/image" Target="../media/image2.png"/><Relationship Id="rId13" Type="http://schemas.openxmlformats.org/officeDocument/2006/relationships/image" Target="../media/image10.png"/><Relationship Id="rId1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hyperlink" Target="https://en.wikipedia.org/wiki/SMTP_Authentication" TargetMode="External"/><Relationship Id="rId9" Type="http://schemas.openxmlformats.org/officeDocument/2006/relationships/hyperlink" Target="https://spacy.io/models/en" TargetMode="External"/><Relationship Id="rId15" Type="http://schemas.openxmlformats.org/officeDocument/2006/relationships/image" Target="../media/image3.png"/><Relationship Id="rId14" Type="http://schemas.openxmlformats.org/officeDocument/2006/relationships/image" Target="../media/image1.png"/><Relationship Id="rId16" Type="http://schemas.openxmlformats.org/officeDocument/2006/relationships/image" Target="../media/image8.jpg"/><Relationship Id="rId5" Type="http://schemas.openxmlformats.org/officeDocument/2006/relationships/hyperlink" Target="https://medium.com/@d.harish008/what-is-a-magic-byte-and-how-to-exploit-1e286da1c198" TargetMode="External"/><Relationship Id="rId6" Type="http://schemas.openxmlformats.org/officeDocument/2006/relationships/hyperlink" Target="https://sbert.net/" TargetMode="External"/><Relationship Id="rId7" Type="http://schemas.openxmlformats.org/officeDocument/2006/relationships/hyperlink" Target="https://en.wikipedia.org/wiki/Entropy_(information_theory)" TargetMode="External"/><Relationship Id="rId8" Type="http://schemas.openxmlformats.org/officeDocument/2006/relationships/hyperlink" Target="https://en.wikipedia.org/wiki/Levenshtein_distance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"/>
          <p:cNvSpPr/>
          <p:nvPr/>
        </p:nvSpPr>
        <p:spPr>
          <a:xfrm>
            <a:off x="1523880" y="0"/>
            <a:ext cx="9143640" cy="6857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icture 4" id="47" name="Google Shape;47;p1"/>
          <p:cNvPicPr preferRelativeResize="0"/>
          <p:nvPr/>
        </p:nvPicPr>
        <p:blipFill rotWithShape="1">
          <a:blip r:embed="rId3">
            <a:alphaModFix/>
          </a:blip>
          <a:srcRect b="0" l="0" r="59916" t="0"/>
          <a:stretch/>
        </p:blipFill>
        <p:spPr>
          <a:xfrm>
            <a:off x="8662320" y="2233800"/>
            <a:ext cx="3203280" cy="342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"/>
          <p:cNvSpPr txBox="1"/>
          <p:nvPr>
            <p:ph type="title"/>
          </p:nvPr>
        </p:nvSpPr>
        <p:spPr>
          <a:xfrm>
            <a:off x="158760" y="-505440"/>
            <a:ext cx="10362960" cy="2076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4000"/>
              <a:buFont typeface="Garamond"/>
              <a:buNone/>
            </a:pPr>
            <a:r>
              <a:rPr b="1" lang="en-US" sz="4000" u="none" strike="noStrike">
                <a:solidFill>
                  <a:srgbClr val="1F497D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2026</a:t>
            </a:r>
            <a:endParaRPr b="0" sz="4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1"/>
          <p:cNvSpPr/>
          <p:nvPr/>
        </p:nvSpPr>
        <p:spPr>
          <a:xfrm>
            <a:off x="216000" y="870480"/>
            <a:ext cx="8031240" cy="493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840" lvl="0" marL="28584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Statement ID –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26106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840" lvl="0" marL="28584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Statement Title -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AI-powered Email Threat Detection, Geolocation and Forensic Intelligence Platform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840" lvl="0" marL="28584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Theme-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Blockchain &amp; Cybersecurity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840" lvl="0" marL="28584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PS Category - 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840" lvl="0" marL="28584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 ID -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840" lvl="0" marL="28584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 Name (Registered on portal) -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Mentalists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icture 1" id="50" name="Google Shape;5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80120" y="1440"/>
            <a:ext cx="2249640" cy="10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"/>
          <p:cNvSpPr/>
          <p:nvPr/>
        </p:nvSpPr>
        <p:spPr>
          <a:xfrm>
            <a:off x="4694040" y="6404400"/>
            <a:ext cx="3112200" cy="26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0" y="6354720"/>
            <a:ext cx="12191760" cy="50292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40">
              <a:srgbClr val="808080">
                <a:alpha val="34902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9537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 txBox="1"/>
          <p:nvPr>
            <p:ph type="title"/>
          </p:nvPr>
        </p:nvSpPr>
        <p:spPr>
          <a:xfrm>
            <a:off x="309600" y="23040"/>
            <a:ext cx="109724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1" lang="en-US" sz="26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IDEA :- Automated Email Forensics &amp; Threat Intelligence SOC </a:t>
            </a:r>
            <a:endParaRPr b="0" sz="2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1" lang="en-US" sz="26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Platform  </a:t>
            </a:r>
            <a:endParaRPr b="0" sz="2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"/>
          <p:cNvSpPr txBox="1"/>
          <p:nvPr>
            <p:ph idx="12" type="sldNum"/>
          </p:nvPr>
        </p:nvSpPr>
        <p:spPr>
          <a:xfrm>
            <a:off x="11393640" y="6404400"/>
            <a:ext cx="188640" cy="26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descr="Picture 10" id="59" name="Google Shape;5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07160" y="-7200"/>
            <a:ext cx="1768320" cy="83484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0" name="Google Shape;60;p2"/>
          <p:cNvGrpSpPr/>
          <p:nvPr/>
        </p:nvGrpSpPr>
        <p:grpSpPr>
          <a:xfrm>
            <a:off x="314640" y="1231200"/>
            <a:ext cx="3783960" cy="2531520"/>
            <a:chOff x="314640" y="1231200"/>
            <a:chExt cx="3783960" cy="2531520"/>
          </a:xfrm>
        </p:grpSpPr>
        <p:sp>
          <p:nvSpPr>
            <p:cNvPr id="61" name="Google Shape;61;p2"/>
            <p:cNvSpPr/>
            <p:nvPr/>
          </p:nvSpPr>
          <p:spPr>
            <a:xfrm>
              <a:off x="314640" y="1231200"/>
              <a:ext cx="3783960" cy="2531520"/>
            </a:xfrm>
            <a:prstGeom prst="rect">
              <a:avLst/>
            </a:prstGeom>
            <a:solidFill>
              <a:srgbClr val="FFFFFF"/>
            </a:solidFill>
            <a:ln cap="flat" cmpd="sng" w="25400">
              <a:solidFill>
                <a:srgbClr val="4F81BD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160" rotWithShape="0" dir="5400000" dist="23040">
                <a:srgbClr val="000000">
                  <a:alpha val="34902"/>
                </a:srgbClr>
              </a:outerShdw>
            </a:effectLst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 cap="none" strike="noStrike">
                <a:solidFill>
                  <a:srgbClr val="05050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327600" y="1371960"/>
              <a:ext cx="3758400" cy="225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FF93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PROBLEM 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6363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010101"/>
                  </a:solidFill>
                  <a:latin typeface="Inter"/>
                  <a:ea typeface="Inter"/>
                  <a:cs typeface="Inter"/>
                  <a:sym typeface="Inter"/>
                </a:rPr>
                <a:t>Modern cyber threats exploit email vectors through complex phishing, spoofed headers, and multi-hop relay obfuscation. Security Operations Center (SOC) analysts face critical bottlenecks: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050505"/>
                  </a:solidFill>
                  <a:latin typeface="Arial"/>
                  <a:ea typeface="Arial"/>
                  <a:cs typeface="Arial"/>
                  <a:sym typeface="Arial"/>
                </a:rPr>
                <a:t>•  Manual .eml/.msg header analysis is slow and error-prone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050505"/>
                  </a:solidFill>
                  <a:latin typeface="Arial"/>
                  <a:ea typeface="Arial"/>
                  <a:cs typeface="Arial"/>
                  <a:sym typeface="Arial"/>
                </a:rPr>
                <a:t>• Limited SMTP-hop and GeoIP visibility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050505"/>
                  </a:solidFill>
                  <a:latin typeface="Arial"/>
                  <a:ea typeface="Arial"/>
                  <a:cs typeface="Arial"/>
                  <a:sym typeface="Arial"/>
                </a:rPr>
                <a:t>• No tamper-evident evidence ledger for legal use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3" name="Google Shape;63;p2"/>
          <p:cNvGrpSpPr/>
          <p:nvPr/>
        </p:nvGrpSpPr>
        <p:grpSpPr>
          <a:xfrm>
            <a:off x="4509720" y="540360"/>
            <a:ext cx="3622680" cy="4599720"/>
            <a:chOff x="4509720" y="540360"/>
            <a:chExt cx="3622680" cy="4599720"/>
          </a:xfrm>
        </p:grpSpPr>
        <p:sp>
          <p:nvSpPr>
            <p:cNvPr id="64" name="Google Shape;64;p2"/>
            <p:cNvSpPr/>
            <p:nvPr/>
          </p:nvSpPr>
          <p:spPr>
            <a:xfrm>
              <a:off x="4509720" y="1237320"/>
              <a:ext cx="3622680" cy="3206160"/>
            </a:xfrm>
            <a:prstGeom prst="rect">
              <a:avLst/>
            </a:prstGeom>
            <a:solidFill>
              <a:srgbClr val="FFFFFF"/>
            </a:solidFill>
            <a:ln cap="flat" cmpd="sng" w="25400">
              <a:solidFill>
                <a:srgbClr val="4F81BD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160" rotWithShape="0" dir="5400000" dist="23040">
                <a:srgbClr val="000000">
                  <a:alpha val="34902"/>
                </a:srgbClr>
              </a:outerShdw>
            </a:effectLst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16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4522320" y="540360"/>
              <a:ext cx="3597120" cy="45997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 u="none" cap="none" strike="noStrike">
                  <a:solidFill>
                    <a:srgbClr val="38BDF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6363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6363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6363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060606"/>
                  </a:solidFill>
                  <a:latin typeface="Inter"/>
                  <a:ea typeface="Inter"/>
                  <a:cs typeface="Inter"/>
                  <a:sym typeface="Inter"/>
                </a:rPr>
                <a:t>An integrated, automated Email Forensics &amp; Threat Intelligence Platform that ingests raw email artifacts, extracts deep metadata, and generates court-admissible dossiers: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6363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050505"/>
                  </a:solidFill>
                  <a:latin typeface="Inter"/>
                  <a:ea typeface="Inter"/>
                  <a:cs typeface="Inter"/>
                  <a:sym typeface="Inter"/>
                </a:rPr>
                <a:t>•  </a:t>
              </a:r>
              <a:r>
                <a:rPr b="0" i="0" lang="en-US" sz="1100" u="none" cap="none" strike="noStrike">
                  <a:solidFill>
                    <a:srgbClr val="060606"/>
                  </a:solidFill>
                  <a:latin typeface="Inter"/>
                  <a:ea typeface="Inter"/>
                  <a:cs typeface="Inter"/>
                  <a:sym typeface="Inter"/>
                </a:rPr>
                <a:t>Automated header extraction and SPF / DKIM / DMARC authentication scoring.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6363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050505"/>
                  </a:solidFill>
                  <a:latin typeface="Inter"/>
                  <a:ea typeface="Inter"/>
                  <a:cs typeface="Inter"/>
                  <a:sym typeface="Inter"/>
                </a:rPr>
                <a:t>•  </a:t>
              </a:r>
              <a:r>
                <a:rPr b="0" i="0" lang="en-US" sz="1100" u="none" cap="none" strike="noStrike">
                  <a:solidFill>
                    <a:srgbClr val="060606"/>
                  </a:solidFill>
                  <a:latin typeface="Inter"/>
                  <a:ea typeface="Inter"/>
                  <a:cs typeface="Inter"/>
                  <a:sym typeface="Inter"/>
                </a:rPr>
                <a:t>Interactive SMTP Routing Topology Graph and GeoIP map visualization.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6363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050505"/>
                  </a:solidFill>
                  <a:latin typeface="Inter"/>
                  <a:ea typeface="Inter"/>
                  <a:cs typeface="Inter"/>
                  <a:sym typeface="Inter"/>
                </a:rPr>
                <a:t>•  </a:t>
              </a:r>
              <a:r>
                <a:rPr b="0" i="0" lang="en-US" sz="1100" u="none" cap="none" strike="noStrike">
                  <a:solidFill>
                    <a:srgbClr val="030303"/>
                  </a:solidFill>
                  <a:latin typeface="Inter"/>
                  <a:ea typeface="Inter"/>
                  <a:cs typeface="Inter"/>
                  <a:sym typeface="Inter"/>
                </a:rPr>
                <a:t>Cryptographic hash chaining to guarantee evidence integrity for court submission.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6" name="Google Shape;66;p2"/>
          <p:cNvGrpSpPr/>
          <p:nvPr/>
        </p:nvGrpSpPr>
        <p:grpSpPr>
          <a:xfrm>
            <a:off x="8543520" y="390600"/>
            <a:ext cx="3485880" cy="4345560"/>
            <a:chOff x="8543520" y="390600"/>
            <a:chExt cx="3485880" cy="4345560"/>
          </a:xfrm>
        </p:grpSpPr>
        <p:sp>
          <p:nvSpPr>
            <p:cNvPr id="67" name="Google Shape;67;p2"/>
            <p:cNvSpPr/>
            <p:nvPr/>
          </p:nvSpPr>
          <p:spPr>
            <a:xfrm>
              <a:off x="8543520" y="1297800"/>
              <a:ext cx="3485880" cy="2531520"/>
            </a:xfrm>
            <a:prstGeom prst="rect">
              <a:avLst/>
            </a:prstGeom>
            <a:solidFill>
              <a:srgbClr val="FFFFFF"/>
            </a:solidFill>
            <a:ln cap="flat" cmpd="sng" w="25400">
              <a:solidFill>
                <a:srgbClr val="4F81BD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160" rotWithShape="0" dir="5400000" dist="23040">
                <a:srgbClr val="000000">
                  <a:alpha val="34902"/>
                </a:srgbClr>
              </a:outerShdw>
            </a:effectLst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 cap="none" strike="noStrike">
                <a:solidFill>
                  <a:srgbClr val="07070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8556120" y="390600"/>
              <a:ext cx="3460680" cy="43455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20240" lvl="0" marL="12024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70707"/>
                </a:buClr>
                <a:buSzPts val="1200"/>
                <a:buFont typeface="Noto Sans Symbols"/>
                <a:buChar char="∙"/>
              </a:pPr>
              <a:r>
                <a:rPr b="0" i="0" lang="en-US" sz="1200" u="none" cap="none" strike="noStrike">
                  <a:solidFill>
                    <a:srgbClr val="070707"/>
                  </a:solidFill>
                  <a:latin typeface="Arial"/>
                  <a:ea typeface="Arial"/>
                  <a:cs typeface="Arial"/>
                  <a:sym typeface="Arial"/>
                </a:rPr>
                <a:t>SHA-256 hash-chained chain of custody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20240" lvl="0" marL="12024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70707"/>
                </a:buClr>
                <a:buSzPts val="1200"/>
                <a:buFont typeface="Noto Sans Symbols"/>
                <a:buChar char="∙"/>
              </a:pPr>
              <a:r>
                <a:rPr b="0" i="0" lang="en-US" sz="1200" u="none" cap="none" strike="noStrike">
                  <a:solidFill>
                    <a:srgbClr val="070707"/>
                  </a:solidFill>
                  <a:latin typeface="Arial"/>
                  <a:ea typeface="Arial"/>
                  <a:cs typeface="Arial"/>
                  <a:sym typeface="Arial"/>
                </a:rPr>
                <a:t>NLP urgency + GeoIP intelligence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070707"/>
                  </a:solidFill>
                  <a:latin typeface="Arial"/>
                  <a:ea typeface="Arial"/>
                  <a:cs typeface="Arial"/>
                  <a:sym typeface="Arial"/>
                </a:rPr>
                <a:t>• One-click standardized forensic PDF dossier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9" name="Google Shape;69;p2"/>
          <p:cNvGrpSpPr/>
          <p:nvPr/>
        </p:nvGrpSpPr>
        <p:grpSpPr>
          <a:xfrm>
            <a:off x="314640" y="4763880"/>
            <a:ext cx="1400760" cy="477360"/>
            <a:chOff x="314640" y="4763880"/>
            <a:chExt cx="1400760" cy="477360"/>
          </a:xfrm>
        </p:grpSpPr>
        <p:sp>
          <p:nvSpPr>
            <p:cNvPr id="70" name="Google Shape;70;p2"/>
            <p:cNvSpPr/>
            <p:nvPr/>
          </p:nvSpPr>
          <p:spPr>
            <a:xfrm>
              <a:off x="314640" y="4763880"/>
              <a:ext cx="1400760" cy="477360"/>
            </a:xfrm>
            <a:prstGeom prst="rect">
              <a:avLst/>
            </a:prstGeom>
            <a:solidFill>
              <a:srgbClr val="FFFFFF"/>
            </a:solidFill>
            <a:ln cap="flat" cmpd="sng" w="25400">
              <a:solidFill>
                <a:srgbClr val="4F81BD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160" rotWithShape="0" dir="5400000" dist="23040">
                <a:srgbClr val="000000">
                  <a:alpha val="34902"/>
                </a:srgbClr>
              </a:outerShdw>
            </a:effectLst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327600" y="4836240"/>
              <a:ext cx="1375200" cy="332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    EMAIL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2" name="Google Shape;72;p2"/>
          <p:cNvGrpSpPr/>
          <p:nvPr/>
        </p:nvGrpSpPr>
        <p:grpSpPr>
          <a:xfrm>
            <a:off x="2583360" y="4763880"/>
            <a:ext cx="1400760" cy="477360"/>
            <a:chOff x="2583360" y="4763880"/>
            <a:chExt cx="1400760" cy="477360"/>
          </a:xfrm>
        </p:grpSpPr>
        <p:sp>
          <p:nvSpPr>
            <p:cNvPr id="73" name="Google Shape;73;p2"/>
            <p:cNvSpPr/>
            <p:nvPr/>
          </p:nvSpPr>
          <p:spPr>
            <a:xfrm>
              <a:off x="2583360" y="4763880"/>
              <a:ext cx="1400760" cy="477360"/>
            </a:xfrm>
            <a:prstGeom prst="rect">
              <a:avLst/>
            </a:prstGeom>
            <a:solidFill>
              <a:srgbClr val="FFFFFF"/>
            </a:solidFill>
            <a:ln cap="flat" cmpd="sng" w="25400">
              <a:solidFill>
                <a:srgbClr val="4F81BD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160" rotWithShape="0" dir="5400000" dist="23040">
                <a:srgbClr val="000000">
                  <a:alpha val="34902"/>
                </a:srgbClr>
              </a:outerShdw>
            </a:effectLst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2596320" y="4836240"/>
              <a:ext cx="1375200" cy="332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     AUTH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5" name="Google Shape;75;p2"/>
          <p:cNvGrpSpPr/>
          <p:nvPr/>
        </p:nvGrpSpPr>
        <p:grpSpPr>
          <a:xfrm>
            <a:off x="4586760" y="4764600"/>
            <a:ext cx="1400760" cy="477360"/>
            <a:chOff x="4586760" y="4764600"/>
            <a:chExt cx="1400760" cy="477360"/>
          </a:xfrm>
        </p:grpSpPr>
        <p:sp>
          <p:nvSpPr>
            <p:cNvPr id="76" name="Google Shape;76;p2"/>
            <p:cNvSpPr/>
            <p:nvPr/>
          </p:nvSpPr>
          <p:spPr>
            <a:xfrm>
              <a:off x="4586760" y="4764600"/>
              <a:ext cx="1400760" cy="477360"/>
            </a:xfrm>
            <a:prstGeom prst="rect">
              <a:avLst/>
            </a:prstGeom>
            <a:solidFill>
              <a:srgbClr val="FFFFFF"/>
            </a:solidFill>
            <a:ln cap="flat" cmpd="sng" w="25400">
              <a:solidFill>
                <a:srgbClr val="4F81BD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160" rotWithShape="0" dir="5400000" dist="23040">
                <a:srgbClr val="000000">
                  <a:alpha val="34902"/>
                </a:srgbClr>
              </a:outerShdw>
            </a:effectLst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4599720" y="4836960"/>
              <a:ext cx="1375200" cy="332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       NLP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8" name="Google Shape;78;p2"/>
          <p:cNvGrpSpPr/>
          <p:nvPr/>
        </p:nvGrpSpPr>
        <p:grpSpPr>
          <a:xfrm>
            <a:off x="6577560" y="4776480"/>
            <a:ext cx="1400760" cy="477360"/>
            <a:chOff x="6577560" y="4776480"/>
            <a:chExt cx="1400760" cy="477360"/>
          </a:xfrm>
        </p:grpSpPr>
        <p:sp>
          <p:nvSpPr>
            <p:cNvPr id="79" name="Google Shape;79;p2"/>
            <p:cNvSpPr/>
            <p:nvPr/>
          </p:nvSpPr>
          <p:spPr>
            <a:xfrm>
              <a:off x="6577560" y="4776480"/>
              <a:ext cx="1400760" cy="477360"/>
            </a:xfrm>
            <a:prstGeom prst="rect">
              <a:avLst/>
            </a:prstGeom>
            <a:solidFill>
              <a:srgbClr val="FFFFFF"/>
            </a:solidFill>
            <a:ln cap="flat" cmpd="sng" w="25400">
              <a:solidFill>
                <a:srgbClr val="4F81BD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160" rotWithShape="0" dir="5400000" dist="23040">
                <a:srgbClr val="000000">
                  <a:alpha val="34902"/>
                </a:srgbClr>
              </a:outerShdw>
            </a:effectLst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6590160" y="4848840"/>
              <a:ext cx="1375200" cy="332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  ROUTING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1" name="Google Shape;81;p2"/>
          <p:cNvGrpSpPr/>
          <p:nvPr/>
        </p:nvGrpSpPr>
        <p:grpSpPr>
          <a:xfrm>
            <a:off x="8593560" y="4763880"/>
            <a:ext cx="1400760" cy="477360"/>
            <a:chOff x="8593560" y="4763880"/>
            <a:chExt cx="1400760" cy="477360"/>
          </a:xfrm>
        </p:grpSpPr>
        <p:sp>
          <p:nvSpPr>
            <p:cNvPr id="82" name="Google Shape;82;p2"/>
            <p:cNvSpPr/>
            <p:nvPr/>
          </p:nvSpPr>
          <p:spPr>
            <a:xfrm>
              <a:off x="8593560" y="4763880"/>
              <a:ext cx="1400760" cy="477360"/>
            </a:xfrm>
            <a:prstGeom prst="rect">
              <a:avLst/>
            </a:prstGeom>
            <a:solidFill>
              <a:srgbClr val="FFFFFF"/>
            </a:solidFill>
            <a:ln cap="flat" cmpd="sng" w="25400">
              <a:solidFill>
                <a:srgbClr val="4F81BD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160" rotWithShape="0" dir="5400000" dist="23040">
                <a:srgbClr val="000000">
                  <a:alpha val="34902"/>
                </a:srgbClr>
              </a:outerShdw>
            </a:effectLst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8606520" y="4836240"/>
              <a:ext cx="1375200" cy="332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     GEOIP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4" name="Google Shape;84;p2"/>
          <p:cNvGrpSpPr/>
          <p:nvPr/>
        </p:nvGrpSpPr>
        <p:grpSpPr>
          <a:xfrm>
            <a:off x="10626480" y="4763880"/>
            <a:ext cx="1400760" cy="477360"/>
            <a:chOff x="10626480" y="4763880"/>
            <a:chExt cx="1400760" cy="477360"/>
          </a:xfrm>
        </p:grpSpPr>
        <p:sp>
          <p:nvSpPr>
            <p:cNvPr id="85" name="Google Shape;85;p2"/>
            <p:cNvSpPr/>
            <p:nvPr/>
          </p:nvSpPr>
          <p:spPr>
            <a:xfrm>
              <a:off x="10626480" y="4763880"/>
              <a:ext cx="1400760" cy="477360"/>
            </a:xfrm>
            <a:prstGeom prst="rect">
              <a:avLst/>
            </a:prstGeom>
            <a:solidFill>
              <a:srgbClr val="FFFFFF"/>
            </a:solidFill>
            <a:ln cap="flat" cmpd="sng" w="25400">
              <a:solidFill>
                <a:srgbClr val="4F81BD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160" rotWithShape="0" dir="5400000" dist="23040">
                <a:srgbClr val="000000">
                  <a:alpha val="34902"/>
                </a:srgbClr>
              </a:outerShdw>
            </a:effectLst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10639440" y="4836240"/>
              <a:ext cx="1375200" cy="332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DOSSIER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87" name="Google Shape;87;p2"/>
          <p:cNvCxnSpPr/>
          <p:nvPr/>
        </p:nvCxnSpPr>
        <p:spPr>
          <a:xfrm>
            <a:off x="1820520" y="5002560"/>
            <a:ext cx="658080" cy="0"/>
          </a:xfrm>
          <a:prstGeom prst="straightConnector1">
            <a:avLst/>
          </a:prstGeom>
          <a:noFill/>
          <a:ln cap="flat" cmpd="sng" w="25400">
            <a:solidFill>
              <a:srgbClr val="4F81B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8" name="Google Shape;88;p2"/>
          <p:cNvCxnSpPr/>
          <p:nvPr/>
        </p:nvCxnSpPr>
        <p:spPr>
          <a:xfrm>
            <a:off x="4089240" y="5002560"/>
            <a:ext cx="422280" cy="0"/>
          </a:xfrm>
          <a:prstGeom prst="straightConnector1">
            <a:avLst/>
          </a:prstGeom>
          <a:noFill/>
          <a:ln cap="flat" cmpd="sng" w="25400">
            <a:solidFill>
              <a:srgbClr val="4F81B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9" name="Google Shape;89;p2"/>
          <p:cNvCxnSpPr/>
          <p:nvPr/>
        </p:nvCxnSpPr>
        <p:spPr>
          <a:xfrm>
            <a:off x="6077880" y="5002560"/>
            <a:ext cx="422280" cy="0"/>
          </a:xfrm>
          <a:prstGeom prst="straightConnector1">
            <a:avLst/>
          </a:prstGeom>
          <a:noFill/>
          <a:ln cap="flat" cmpd="sng" w="25400">
            <a:solidFill>
              <a:srgbClr val="4F81B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0" name="Google Shape;90;p2"/>
          <p:cNvCxnSpPr/>
          <p:nvPr/>
        </p:nvCxnSpPr>
        <p:spPr>
          <a:xfrm>
            <a:off x="8096040" y="5002560"/>
            <a:ext cx="422280" cy="0"/>
          </a:xfrm>
          <a:prstGeom prst="straightConnector1">
            <a:avLst/>
          </a:prstGeom>
          <a:noFill/>
          <a:ln cap="flat" cmpd="sng" w="25400">
            <a:solidFill>
              <a:srgbClr val="4F81B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1" name="Google Shape;91;p2"/>
          <p:cNvCxnSpPr/>
          <p:nvPr/>
        </p:nvCxnSpPr>
        <p:spPr>
          <a:xfrm>
            <a:off x="10114200" y="5002560"/>
            <a:ext cx="422280" cy="0"/>
          </a:xfrm>
          <a:prstGeom prst="straightConnector1">
            <a:avLst/>
          </a:prstGeom>
          <a:noFill/>
          <a:ln cap="flat" cmpd="sng" w="25400">
            <a:solidFill>
              <a:srgbClr val="4F81B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2" name="Google Shape;92;p2"/>
          <p:cNvSpPr/>
          <p:nvPr/>
        </p:nvSpPr>
        <p:spPr>
          <a:xfrm>
            <a:off x="3325320" y="5438520"/>
            <a:ext cx="5174280" cy="25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Automated evidence journey — from raw email artifact to verifiable forensic output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"/>
          <p:cNvSpPr/>
          <p:nvPr/>
        </p:nvSpPr>
        <p:spPr>
          <a:xfrm>
            <a:off x="4647600" y="1309320"/>
            <a:ext cx="2529720" cy="348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433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SOLUTION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8657640" y="1313640"/>
            <a:ext cx="2512440" cy="348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F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IT IS DIFFERENT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239040" y="140400"/>
            <a:ext cx="1056240" cy="53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Mentalists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" name="Google Shape;9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20" y="23040"/>
            <a:ext cx="1218960" cy="680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/>
          <p:nvPr/>
        </p:nvSpPr>
        <p:spPr>
          <a:xfrm>
            <a:off x="4694040" y="6404400"/>
            <a:ext cx="3112200" cy="26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-150" y="6355070"/>
            <a:ext cx="12191700" cy="5028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40">
              <a:srgbClr val="808080">
                <a:alpha val="34902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9537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 txBox="1"/>
          <p:nvPr>
            <p:ph type="title"/>
          </p:nvPr>
        </p:nvSpPr>
        <p:spPr>
          <a:xfrm>
            <a:off x="609480" y="-47520"/>
            <a:ext cx="109724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Times New Roman"/>
              <a:buNone/>
            </a:pPr>
            <a:r>
              <a:rPr b="1" lang="en-US" sz="35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 b="0" sz="3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"/>
          <p:cNvSpPr txBox="1"/>
          <p:nvPr>
            <p:ph idx="12" type="sldNum"/>
          </p:nvPr>
        </p:nvSpPr>
        <p:spPr>
          <a:xfrm>
            <a:off x="11393640" y="6404400"/>
            <a:ext cx="188640" cy="26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descr="Picture 11" id="105" name="Google Shape;10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120" y="1440"/>
            <a:ext cx="2249640" cy="1062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6" name="Google Shape;106;p3"/>
          <p:cNvGrpSpPr/>
          <p:nvPr/>
        </p:nvGrpSpPr>
        <p:grpSpPr>
          <a:xfrm>
            <a:off x="443520" y="1121040"/>
            <a:ext cx="10946880" cy="647640"/>
            <a:chOff x="443520" y="1121040"/>
            <a:chExt cx="10946880" cy="647640"/>
          </a:xfrm>
        </p:grpSpPr>
        <p:sp>
          <p:nvSpPr>
            <p:cNvPr id="107" name="Google Shape;107;p3"/>
            <p:cNvSpPr/>
            <p:nvPr/>
          </p:nvSpPr>
          <p:spPr>
            <a:xfrm>
              <a:off x="443520" y="1121040"/>
              <a:ext cx="10946880" cy="647640"/>
            </a:xfrm>
            <a:prstGeom prst="roundRect">
              <a:avLst>
                <a:gd fmla="val 29395" name="adj"/>
              </a:avLst>
            </a:prstGeom>
            <a:solidFill>
              <a:srgbClr val="FFFFFF"/>
            </a:solidFill>
            <a:ln cap="flat" cmpd="sng" w="25400">
              <a:solidFill>
                <a:srgbClr val="4F81BD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160" rotWithShape="0" dir="5400000" dist="23040">
                <a:srgbClr val="000000">
                  <a:alpha val="34902"/>
                </a:srgbClr>
              </a:outerShdw>
            </a:effectLst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512280" y="1234440"/>
              <a:ext cx="10810080" cy="42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         Next.js + TypeScript + Tailwind  •  SOC Dashboard  •  React Flow topology  •  Leaflet GeoIP map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9" name="Google Shape;109;p3"/>
          <p:cNvSpPr/>
          <p:nvPr/>
        </p:nvSpPr>
        <p:spPr>
          <a:xfrm>
            <a:off x="865440" y="1152000"/>
            <a:ext cx="1020960" cy="294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42AAE6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443520" y="2218320"/>
            <a:ext cx="10946880" cy="647640"/>
          </a:xfrm>
          <a:prstGeom prst="roundRect">
            <a:avLst>
              <a:gd fmla="val 29395" name="adj"/>
            </a:avLst>
          </a:prstGeom>
          <a:solidFill>
            <a:srgbClr val="FFFFFF"/>
          </a:solidFill>
          <a:ln cap="flat" cmpd="sng" w="25400">
            <a:solidFill>
              <a:srgbClr val="4F81BD"/>
            </a:solidFill>
            <a:prstDash val="solid"/>
            <a:round/>
            <a:headEnd len="sm" w="sm" type="none"/>
            <a:tailEnd len="sm" w="sm" type="none"/>
          </a:ln>
          <a:effectLst>
            <a:outerShdw blurRad="381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911160" y="2282760"/>
            <a:ext cx="929160" cy="294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54C38F"/>
                </a:solidFill>
                <a:latin typeface="Arial"/>
                <a:ea typeface="Arial"/>
                <a:cs typeface="Arial"/>
                <a:sym typeface="Arial"/>
              </a:rPr>
              <a:t>BACKEND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982440" y="2573280"/>
            <a:ext cx="8092440" cy="25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FastAPI + Python  •  Email Parser  •  SPF/DKIM/DMARC verification  •  NLP urgency scoring  •  Threat scoring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945000" y="3413160"/>
            <a:ext cx="2369520" cy="294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4B14B"/>
                </a:solidFill>
                <a:latin typeface="Arial"/>
                <a:ea typeface="Arial"/>
                <a:cs typeface="Arial"/>
                <a:sym typeface="Arial"/>
              </a:rPr>
              <a:t>EVIDENCE &amp; INTELLIGENCE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1008360" y="3696840"/>
            <a:ext cx="6871320" cy="25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Email metadata  •  SMTP hop data  •  GeoIP intelligence  •  SHA-256 audit ledger  •  Court-ready PDF dossier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5" name="Google Shape;115;p3"/>
          <p:cNvCxnSpPr/>
          <p:nvPr/>
        </p:nvCxnSpPr>
        <p:spPr>
          <a:xfrm rot="10800000">
            <a:off x="5645160" y="2907000"/>
            <a:ext cx="0" cy="428400"/>
          </a:xfrm>
          <a:prstGeom prst="straightConnector1">
            <a:avLst/>
          </a:prstGeom>
          <a:noFill/>
          <a:ln cap="flat" cmpd="sng" w="25400">
            <a:solidFill>
              <a:srgbClr val="4F81B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" name="Google Shape;116;p3"/>
          <p:cNvCxnSpPr/>
          <p:nvPr/>
        </p:nvCxnSpPr>
        <p:spPr>
          <a:xfrm rot="10800000">
            <a:off x="5645160" y="1794600"/>
            <a:ext cx="0" cy="428400"/>
          </a:xfrm>
          <a:prstGeom prst="straightConnector1">
            <a:avLst/>
          </a:prstGeom>
          <a:noFill/>
          <a:ln cap="flat" cmpd="sng" w="25400">
            <a:solidFill>
              <a:srgbClr val="4F81B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" name="Google Shape;117;p3"/>
          <p:cNvSpPr/>
          <p:nvPr/>
        </p:nvSpPr>
        <p:spPr>
          <a:xfrm>
            <a:off x="208440" y="4068360"/>
            <a:ext cx="5256360" cy="433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 Process &amp; Pipeline :- 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" name="Google Shape;118;p3"/>
          <p:cNvGrpSpPr/>
          <p:nvPr/>
        </p:nvGrpSpPr>
        <p:grpSpPr>
          <a:xfrm>
            <a:off x="1393920" y="4648320"/>
            <a:ext cx="675360" cy="562680"/>
            <a:chOff x="1393920" y="4648320"/>
            <a:chExt cx="675360" cy="562680"/>
          </a:xfrm>
        </p:grpSpPr>
        <p:sp>
          <p:nvSpPr>
            <p:cNvPr id="119" name="Google Shape;119;p3"/>
            <p:cNvSpPr/>
            <p:nvPr/>
          </p:nvSpPr>
          <p:spPr>
            <a:xfrm>
              <a:off x="1393920" y="4648320"/>
              <a:ext cx="675360" cy="562680"/>
            </a:xfrm>
            <a:prstGeom prst="ellipse">
              <a:avLst/>
            </a:prstGeom>
            <a:solidFill>
              <a:srgbClr val="FFFFFF"/>
            </a:solidFill>
            <a:ln cap="flat" cmpd="sng" w="25400">
              <a:solidFill>
                <a:srgbClr val="4F81BD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160" rotWithShape="0" dir="5400000" dist="23040">
                <a:srgbClr val="000000">
                  <a:alpha val="34902"/>
                </a:srgbClr>
              </a:outerShdw>
            </a:effectLst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1505520" y="4718880"/>
              <a:ext cx="452160" cy="42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01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1" name="Google Shape;121;p3"/>
          <p:cNvGrpSpPr/>
          <p:nvPr/>
        </p:nvGrpSpPr>
        <p:grpSpPr>
          <a:xfrm>
            <a:off x="4284720" y="4635360"/>
            <a:ext cx="675360" cy="562680"/>
            <a:chOff x="4284720" y="4635360"/>
            <a:chExt cx="675360" cy="562680"/>
          </a:xfrm>
        </p:grpSpPr>
        <p:sp>
          <p:nvSpPr>
            <p:cNvPr id="122" name="Google Shape;122;p3"/>
            <p:cNvSpPr/>
            <p:nvPr/>
          </p:nvSpPr>
          <p:spPr>
            <a:xfrm>
              <a:off x="4284720" y="4635360"/>
              <a:ext cx="675360" cy="562680"/>
            </a:xfrm>
            <a:prstGeom prst="ellipse">
              <a:avLst/>
            </a:prstGeom>
            <a:solidFill>
              <a:srgbClr val="FFFFFF"/>
            </a:solidFill>
            <a:ln cap="flat" cmpd="sng" w="25400">
              <a:solidFill>
                <a:srgbClr val="4F81BD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160" rotWithShape="0" dir="5400000" dist="23040">
                <a:srgbClr val="000000">
                  <a:alpha val="34902"/>
                </a:srgbClr>
              </a:outerShdw>
            </a:effectLst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123" name="Google Shape;123;p3"/>
            <p:cNvSpPr/>
            <p:nvPr/>
          </p:nvSpPr>
          <p:spPr>
            <a:xfrm>
              <a:off x="4396320" y="4706280"/>
              <a:ext cx="452160" cy="42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02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4" name="Google Shape;124;p3"/>
          <p:cNvGrpSpPr/>
          <p:nvPr/>
        </p:nvGrpSpPr>
        <p:grpSpPr>
          <a:xfrm>
            <a:off x="6968520" y="4673520"/>
            <a:ext cx="675360" cy="562680"/>
            <a:chOff x="6968520" y="4673520"/>
            <a:chExt cx="675360" cy="562680"/>
          </a:xfrm>
        </p:grpSpPr>
        <p:sp>
          <p:nvSpPr>
            <p:cNvPr id="125" name="Google Shape;125;p3"/>
            <p:cNvSpPr/>
            <p:nvPr/>
          </p:nvSpPr>
          <p:spPr>
            <a:xfrm>
              <a:off x="6968520" y="4673520"/>
              <a:ext cx="675360" cy="562680"/>
            </a:xfrm>
            <a:prstGeom prst="ellipse">
              <a:avLst/>
            </a:prstGeom>
            <a:solidFill>
              <a:srgbClr val="FFFFFF"/>
            </a:solidFill>
            <a:ln cap="flat" cmpd="sng" w="25400">
              <a:solidFill>
                <a:srgbClr val="4F81BD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160" rotWithShape="0" dir="5400000" dist="23040">
                <a:srgbClr val="000000">
                  <a:alpha val="34902"/>
                </a:srgbClr>
              </a:outerShdw>
            </a:effectLst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126" name="Google Shape;126;p3"/>
            <p:cNvSpPr/>
            <p:nvPr/>
          </p:nvSpPr>
          <p:spPr>
            <a:xfrm>
              <a:off x="7080120" y="4744080"/>
              <a:ext cx="452160" cy="42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03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7" name="Google Shape;127;p3"/>
          <p:cNvGrpSpPr/>
          <p:nvPr/>
        </p:nvGrpSpPr>
        <p:grpSpPr>
          <a:xfrm>
            <a:off x="9917280" y="4655160"/>
            <a:ext cx="675360" cy="562680"/>
            <a:chOff x="9917280" y="4655160"/>
            <a:chExt cx="675360" cy="562680"/>
          </a:xfrm>
        </p:grpSpPr>
        <p:sp>
          <p:nvSpPr>
            <p:cNvPr id="128" name="Google Shape;128;p3"/>
            <p:cNvSpPr/>
            <p:nvPr/>
          </p:nvSpPr>
          <p:spPr>
            <a:xfrm>
              <a:off x="9917280" y="4655160"/>
              <a:ext cx="675360" cy="562680"/>
            </a:xfrm>
            <a:prstGeom prst="ellipse">
              <a:avLst/>
            </a:prstGeom>
            <a:solidFill>
              <a:srgbClr val="FFFFFF"/>
            </a:solidFill>
            <a:ln cap="flat" cmpd="sng" w="25400">
              <a:solidFill>
                <a:srgbClr val="4F81BD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160" rotWithShape="0" dir="5400000" dist="23040">
                <a:srgbClr val="000000">
                  <a:alpha val="34902"/>
                </a:srgbClr>
              </a:outerShdw>
            </a:effectLst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129" name="Google Shape;129;p3"/>
            <p:cNvSpPr/>
            <p:nvPr/>
          </p:nvSpPr>
          <p:spPr>
            <a:xfrm>
              <a:off x="10028880" y="4726080"/>
              <a:ext cx="452160" cy="42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04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30" name="Google Shape;130;p3"/>
          <p:cNvCxnSpPr/>
          <p:nvPr/>
        </p:nvCxnSpPr>
        <p:spPr>
          <a:xfrm>
            <a:off x="2092680" y="4942080"/>
            <a:ext cx="2166120" cy="0"/>
          </a:xfrm>
          <a:prstGeom prst="straightConnector1">
            <a:avLst/>
          </a:prstGeom>
          <a:noFill/>
          <a:ln cap="flat" cmpd="sng" w="25400">
            <a:solidFill>
              <a:srgbClr val="4F81B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1" name="Google Shape;131;p3"/>
          <p:cNvCxnSpPr/>
          <p:nvPr/>
        </p:nvCxnSpPr>
        <p:spPr>
          <a:xfrm>
            <a:off x="4974480" y="4942080"/>
            <a:ext cx="1961280" cy="0"/>
          </a:xfrm>
          <a:prstGeom prst="straightConnector1">
            <a:avLst/>
          </a:prstGeom>
          <a:noFill/>
          <a:ln cap="flat" cmpd="sng" w="25400">
            <a:solidFill>
              <a:srgbClr val="4F81B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" name="Google Shape;132;p3"/>
          <p:cNvCxnSpPr/>
          <p:nvPr/>
        </p:nvCxnSpPr>
        <p:spPr>
          <a:xfrm>
            <a:off x="7666200" y="4955040"/>
            <a:ext cx="2216160" cy="0"/>
          </a:xfrm>
          <a:prstGeom prst="straightConnector1">
            <a:avLst/>
          </a:prstGeom>
          <a:noFill/>
          <a:ln cap="flat" cmpd="sng" w="25400">
            <a:solidFill>
              <a:srgbClr val="4F81B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3" name="Google Shape;133;p3"/>
          <p:cNvSpPr/>
          <p:nvPr/>
        </p:nvSpPr>
        <p:spPr>
          <a:xfrm>
            <a:off x="1033560" y="5331960"/>
            <a:ext cx="1167840" cy="294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File Ingestion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3"/>
          <p:cNvSpPr/>
          <p:nvPr/>
        </p:nvSpPr>
        <p:spPr>
          <a:xfrm>
            <a:off x="376200" y="5771880"/>
            <a:ext cx="27108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Upload .eml / .msg raw emails via React Dropzone to POST /api/analyze API.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3"/>
          <p:cNvSpPr/>
          <p:nvPr/>
        </p:nvSpPr>
        <p:spPr>
          <a:xfrm>
            <a:off x="3799080" y="5331960"/>
            <a:ext cx="2112120" cy="294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Header &amp; NLP Parsing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3"/>
          <p:cNvSpPr/>
          <p:nvPr/>
        </p:nvSpPr>
        <p:spPr>
          <a:xfrm>
            <a:off x="3639600" y="5747400"/>
            <a:ext cx="2585160" cy="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Extract Received headers, SPF/DKIM validation, &amp; NLP urgency scoring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3"/>
          <p:cNvSpPr/>
          <p:nvPr/>
        </p:nvSpPr>
        <p:spPr>
          <a:xfrm>
            <a:off x="6679080" y="5331960"/>
            <a:ext cx="1895760" cy="294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Topology &amp; GeoIP Map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3"/>
          <p:cNvSpPr/>
          <p:nvPr/>
        </p:nvSpPr>
        <p:spPr>
          <a:xfrm>
            <a:off x="6559200" y="5745240"/>
            <a:ext cx="2476080" cy="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Reconstruct SMTP hop network graph and pin origin coordinates on Leaflet map.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3"/>
          <p:cNvSpPr/>
          <p:nvPr/>
        </p:nvSpPr>
        <p:spPr>
          <a:xfrm>
            <a:off x="9611640" y="5331960"/>
            <a:ext cx="1764000" cy="294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Ledger &amp; PDF Export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3"/>
          <p:cNvSpPr/>
          <p:nvPr/>
        </p:nvSpPr>
        <p:spPr>
          <a:xfrm>
            <a:off x="9488880" y="5771880"/>
            <a:ext cx="2249640" cy="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Hash-chained audit log creation &amp; 1-click generation of court PDF report.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3"/>
          <p:cNvSpPr/>
          <p:nvPr/>
        </p:nvSpPr>
        <p:spPr>
          <a:xfrm>
            <a:off x="199800" y="62640"/>
            <a:ext cx="1329840" cy="67896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4F81BD"/>
            </a:solidFill>
            <a:prstDash val="solid"/>
            <a:round/>
            <a:headEnd len="sm" w="sm" type="none"/>
            <a:tailEnd len="sm" w="sm" type="none"/>
          </a:ln>
          <a:effectLst>
            <a:outerShdw blurRad="381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3"/>
          <p:cNvSpPr/>
          <p:nvPr/>
        </p:nvSpPr>
        <p:spPr>
          <a:xfrm>
            <a:off x="336600" y="94680"/>
            <a:ext cx="1056240" cy="61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Mentalists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7880" y="0"/>
            <a:ext cx="1462320" cy="815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"/>
          <p:cNvSpPr/>
          <p:nvPr/>
        </p:nvSpPr>
        <p:spPr>
          <a:xfrm>
            <a:off x="4694040" y="6404400"/>
            <a:ext cx="3112200" cy="26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0" y="6354720"/>
            <a:ext cx="12191760" cy="50292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40">
              <a:srgbClr val="808080">
                <a:alpha val="34902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9537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 txBox="1"/>
          <p:nvPr>
            <p:ph type="title"/>
          </p:nvPr>
        </p:nvSpPr>
        <p:spPr>
          <a:xfrm>
            <a:off x="609480" y="-47520"/>
            <a:ext cx="109724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b="1" lang="en-US" sz="36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 b="0" sz="3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4"/>
          <p:cNvSpPr txBox="1"/>
          <p:nvPr>
            <p:ph idx="12" type="sldNum"/>
          </p:nvPr>
        </p:nvSpPr>
        <p:spPr>
          <a:xfrm>
            <a:off x="11393640" y="6404400"/>
            <a:ext cx="188640" cy="26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descr="Picture 10" id="152" name="Google Shape;15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34040" y="-7200"/>
            <a:ext cx="2249640" cy="10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atGPT Image Sep 8, 2026 at 11_21_53 PM.png" id="153" name="Google Shape;15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74120" y="985320"/>
            <a:ext cx="9443520" cy="531468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4"/>
          <p:cNvSpPr/>
          <p:nvPr/>
        </p:nvSpPr>
        <p:spPr>
          <a:xfrm>
            <a:off x="257400" y="109800"/>
            <a:ext cx="1329840" cy="67896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4F81BD"/>
            </a:solidFill>
            <a:prstDash val="solid"/>
            <a:round/>
            <a:headEnd len="sm" w="sm" type="none"/>
            <a:tailEnd len="sm" w="sm" type="none"/>
          </a:ln>
          <a:effectLst>
            <a:outerShdw blurRad="381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393840" y="141840"/>
            <a:ext cx="1056240" cy="61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Mentalists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6" name="Google Shape;156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8960" y="72000"/>
            <a:ext cx="1407240" cy="785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"/>
          <p:cNvSpPr/>
          <p:nvPr/>
        </p:nvSpPr>
        <p:spPr>
          <a:xfrm>
            <a:off x="4694040" y="6404400"/>
            <a:ext cx="3112200" cy="26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0" y="6469920"/>
            <a:ext cx="12191760" cy="50292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40">
              <a:srgbClr val="808080">
                <a:alpha val="34902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9537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 txBox="1"/>
          <p:nvPr>
            <p:ph type="title"/>
          </p:nvPr>
        </p:nvSpPr>
        <p:spPr>
          <a:xfrm>
            <a:off x="609480" y="-38880"/>
            <a:ext cx="109724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b="1" lang="en-US" sz="36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 b="0" sz="3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5"/>
          <p:cNvSpPr txBox="1"/>
          <p:nvPr>
            <p:ph idx="12" type="sldNum"/>
          </p:nvPr>
        </p:nvSpPr>
        <p:spPr>
          <a:xfrm>
            <a:off x="11393640" y="6404400"/>
            <a:ext cx="188640" cy="26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descr="Picture 10" id="165" name="Google Shape;16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120" y="1440"/>
            <a:ext cx="2249640" cy="10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5"/>
          <p:cNvPicPr preferRelativeResize="0"/>
          <p:nvPr/>
        </p:nvPicPr>
        <p:blipFill rotWithShape="1">
          <a:blip r:embed="rId4">
            <a:alphaModFix/>
          </a:blip>
          <a:srcRect b="24033" l="0" r="0" t="4970"/>
          <a:stretch/>
        </p:blipFill>
        <p:spPr>
          <a:xfrm>
            <a:off x="933825" y="1029600"/>
            <a:ext cx="10324349" cy="544032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5"/>
          <p:cNvSpPr/>
          <p:nvPr/>
        </p:nvSpPr>
        <p:spPr>
          <a:xfrm>
            <a:off x="257400" y="109800"/>
            <a:ext cx="1329840" cy="67896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4F81BD"/>
            </a:solidFill>
            <a:prstDash val="solid"/>
            <a:round/>
            <a:headEnd len="sm" w="sm" type="none"/>
            <a:tailEnd len="sm" w="sm" type="none"/>
          </a:ln>
          <a:effectLst>
            <a:outerShdw blurRad="381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393840" y="141840"/>
            <a:ext cx="1056240" cy="61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Mentalists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9" name="Google Shape;169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2600" y="0"/>
            <a:ext cx="1510920" cy="843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"/>
          <p:cNvSpPr/>
          <p:nvPr/>
        </p:nvSpPr>
        <p:spPr>
          <a:xfrm>
            <a:off x="4694040" y="6404400"/>
            <a:ext cx="3112200" cy="26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0" y="6354720"/>
            <a:ext cx="12191760" cy="50292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40">
              <a:srgbClr val="808080">
                <a:alpha val="34902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9537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 txBox="1"/>
          <p:nvPr>
            <p:ph type="title"/>
          </p:nvPr>
        </p:nvSpPr>
        <p:spPr>
          <a:xfrm>
            <a:off x="609480" y="-47520"/>
            <a:ext cx="109724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b="1" lang="en-US" sz="36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 b="0" sz="3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6"/>
          <p:cNvSpPr txBox="1"/>
          <p:nvPr>
            <p:ph idx="12" type="sldNum"/>
          </p:nvPr>
        </p:nvSpPr>
        <p:spPr>
          <a:xfrm>
            <a:off x="11393640" y="6404400"/>
            <a:ext cx="188640" cy="26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249120" y="128880"/>
            <a:ext cx="1251360" cy="80712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8064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icture 11" id="179" name="Google Shape;17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120" y="1440"/>
            <a:ext cx="2249640" cy="1062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0" name="Google Shape;180;p6"/>
          <p:cNvGraphicFramePr/>
          <p:nvPr/>
        </p:nvGraphicFramePr>
        <p:xfrm>
          <a:off x="467640" y="12387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{978C687C-3106-4394-9FBD-B5B9E1689773}</a:tableStyleId>
              </a:tblPr>
              <a:tblGrid>
                <a:gridCol w="5628250"/>
                <a:gridCol w="5628250"/>
              </a:tblGrid>
              <a:tr h="1549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7E7"/>
                    </a:solidFill>
                  </a:tcPr>
                </a:tc>
              </a:tr>
              <a:tr h="15494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CF4"/>
                    </a:solidFill>
                  </a:tcPr>
                </a:tc>
              </a:tr>
              <a:tr h="15494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7E7"/>
                    </a:solidFill>
                  </a:tcPr>
                </a:tc>
              </a:tr>
            </a:tbl>
          </a:graphicData>
        </a:graphic>
      </p:graphicFrame>
      <p:sp>
        <p:nvSpPr>
          <p:cNvPr id="181" name="Google Shape;181;p6"/>
          <p:cNvSpPr/>
          <p:nvPr/>
        </p:nvSpPr>
        <p:spPr>
          <a:xfrm>
            <a:off x="2089440" y="1470600"/>
            <a:ext cx="3527640" cy="687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sng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SMTP AUTHENTICATION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Email authentication &amp; SMTP security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7780680" y="1397520"/>
            <a:ext cx="4764600" cy="1018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sng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MAGIC BYTES</a:t>
            </a:r>
            <a:r>
              <a:rPr b="1" i="0" lang="en-US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&amp; FILE VALIDATION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File signature /upload validation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2092680" y="3046320"/>
            <a:ext cx="4018680" cy="687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sng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SENTENCE TRANSFORMERS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Semantic text similarity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7754760" y="3084840"/>
            <a:ext cx="3588480" cy="687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sng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INFORMATION ENTROPY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Entropy - based analysis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2160720" y="4622040"/>
            <a:ext cx="3615480" cy="687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sng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LEVENSHTEIN DISTANCE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String similarity /typo detection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7812360" y="4622040"/>
            <a:ext cx="3472920" cy="687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sng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spaCy ENGLISH MODELS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NLP &amp; language processing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creenshot 2026-09-09 at 12.29.49 PM.png" id="187" name="Google Shape;187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50440" y="1409400"/>
            <a:ext cx="1366920" cy="11782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shot 2026-09-09 at 12.30.23 PM.png" id="188" name="Google Shape;188;p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157440" y="1495080"/>
            <a:ext cx="1366920" cy="1150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shot 2026-09-09 at 12.31.35 PM.png" id="189" name="Google Shape;189;p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79240" y="2987280"/>
            <a:ext cx="1436400" cy="1150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shot 2026-09-09 at 12.33.26 PM.png" id="190" name="Google Shape;190;p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189480" y="3031920"/>
            <a:ext cx="1430280" cy="11163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shot 2026-09-09 at 12.35.49 PM.png" id="191" name="Google Shape;191;p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77800" y="4538160"/>
            <a:ext cx="1362960" cy="10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shot 2026-09-09 at 12.37.48 PM.png" id="192" name="Google Shape;192;p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224760" y="4525560"/>
            <a:ext cx="1435680" cy="111636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6"/>
          <p:cNvSpPr/>
          <p:nvPr/>
        </p:nvSpPr>
        <p:spPr>
          <a:xfrm>
            <a:off x="365760" y="216360"/>
            <a:ext cx="1366920" cy="61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Mentalists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4" name="Google Shape;194;p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0" y="73800"/>
            <a:ext cx="1635840" cy="91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